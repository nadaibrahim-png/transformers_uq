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0275784" cy="42803064"/>
  <p:notesSz cx="42803064" cy="3027578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dPt>
            <c:idx val="0"/>
            <c:bubble3D val="0"/>
            <c:spPr>
              <a:solidFill>
                <a:srgbClr val="004B9B"/>
              </a:solidFill>
              <a:effectLst/>
            </c:spPr>
          </c:dPt>
          <c:dPt>
            <c:idx val="1"/>
            <c:bubble3D val="0"/>
            <c:spPr>
              <a:solidFill>
                <a:srgbClr val="B91C1C"/>
              </a:solidFill>
              <a:effectLst/>
            </c:spPr>
          </c:dPt>
          <c:dLbls>
            <c:dLbl>
              <c:idx val="0"/>
              <c:numFmt formatCode="0%" sourceLinked="0"/>
              <c:spPr/>
              <c:txPr>
                <a:bodyPr/>
                <a:lstStyle/>
                <a:p>
                  <a:pPr>
                    <a:defRPr sz="1500" b="0" i="0" u="none" strike="noStrike">
                      <a:solidFill>
                        <a:srgbClr val="FFFFFF"/>
                      </a:solidFill>
                      <a:latin typeface="Arial"/>
                    </a:defRPr>
                  </a:pPr>
                </a:p>
              </c:txPr>
              <c:showLegendKey val="0"/>
              <c:showVal val="0"/>
              <c:showCatName val="1"/>
              <c:showSerName val="0"/>
              <c:showPercent val="1"/>
              <c:showBubbleSize val="0"/>
            </c:dLbl>
            <c:dLbl>
              <c:idx val="1"/>
              <c:numFmt formatCode="0%" sourceLinked="0"/>
              <c:spPr/>
              <c:txPr>
                <a:bodyPr/>
                <a:lstStyle/>
                <a:p>
                  <a:pPr>
                    <a:defRPr sz="1500" b="0" i="0" u="none" strike="noStrike">
                      <a:solidFill>
                        <a:srgbClr val="FFFFFF"/>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νₑ Signal</c:v>
                </c:pt>
                <c:pt idx="1">
                  <c:v>νμ Background</c:v>
                </c:pt>
              </c:strCache>
            </c:strRef>
          </c:cat>
          <c:val>
            <c:numRef>
              <c:f>Sheet1!$B$2:$B$3</c:f>
              <c:numCache>
                <c:ptCount val="2"/>
                <c:pt idx="0">
                  <c:v>28</c:v>
                </c:pt>
                <c:pt idx="1">
                  <c:v>72</c:v>
                </c:pt>
              </c:numCache>
            </c:numRef>
          </c:val>
        </c:ser>
        <c:firstSliceAng val="0"/>
      </c:pieChart>
      <c:spPr>
        <a:noFill/>
        <a:ln>
          <a:noFill/>
        </a:ln>
        <a:effectLst/>
      </c:spPr>
    </c:plotArea>
    <c:legend>
      <c:legendPos val="b"/>
      <c:overlay val="0"/>
      <c:txPr>
        <a:bodyPr/>
        <a:lstStyle/>
        <a:p>
          <a:pPr>
            <a:defRPr sz="1300"/>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ECE</c:v>
                </c:pt>
              </c:strCache>
            </c:strRef>
          </c:tx>
          <c:spPr>
            <a:solidFill>
              <a:srgbClr val="B91C1C"/>
            </a:solidFill>
            <a:effectLst/>
          </c:spPr>
          <c:invertIfNegative val="0"/>
          <c:dLbls>
            <c:numFmt formatCode="#,##0" sourceLinked="0"/>
            <c:txPr>
              <a:bodyPr/>
              <a:lstStyle/>
              <a:p>
                <a:pPr>
                  <a:defRPr b="0" i="0" strike="noStrike" sz="1200" u="none">
                    <a:solidFill>
                      <a:srgbClr val="002D6B"/>
                    </a:solidFill>
                    <a:latin typeface="Arial"/>
                  </a:defRPr>
                </a:pPr>
              </a:p>
            </c:txPr>
            <c:showLegendKey val="0"/>
            <c:showVal val="1"/>
            <c:showCatName val="0"/>
            <c:showSerName val="0"/>
            <c:showPercent val="0"/>
            <c:showBubbleSize val="0"/>
            <c:showLeaderLines val="0"/>
          </c:dLbls>
          <c:dPt>
            <c:idx val="0"/>
            <c:invertIfNegative val="0"/>
            <c:bubble3D val="0"/>
            <c:spPr>
              <a:solidFill>
                <a:srgbClr val="B91C1C"/>
              </a:solidFill>
              <a:effectLst/>
            </c:spPr>
          </c:dPt>
          <c:dPt>
            <c:idx val="1"/>
            <c:invertIfNegative val="0"/>
            <c:bubble3D val="0"/>
            <c:spPr>
              <a:solidFill>
                <a:srgbClr val="007A78"/>
              </a:solidFill>
              <a:effectLst/>
            </c:spPr>
          </c:dPt>
          <c:dPt>
            <c:idx val="2"/>
            <c:invertIfNegative val="0"/>
            <c:bubble3D val="0"/>
            <c:spPr>
              <a:solidFill>
                <a:srgbClr val="166534"/>
              </a:solidFill>
              <a:effectLst/>
            </c:spPr>
          </c:dPt>
          <c:dPt>
            <c:idx val="3"/>
            <c:invertIfNegative val="0"/>
            <c:bubble3D val="0"/>
            <c:spPr>
              <a:solidFill>
                <a:srgbClr val="6D28D9"/>
              </a:solidFill>
              <a:effectLst/>
            </c:spPr>
          </c:dPt>
          <c:cat>
            <c:multiLvlStrRef>
              <c:f>Sheet1!$A$2:$A$5</c:f>
              <c:multiLvlStrCache>
                <c:ptCount val="4"/>
                <c:lvl>
                  <c:pt idx="0">
                    <c:v>Standard</c:v>
                  </c:pt>
                  <c:pt idx="1">
                    <c:v>MC Dropout</c:v>
                  </c:pt>
                  <c:pt idx="2">
                    <c:v>Temp. Scaling</c:v>
                  </c:pt>
                  <c:pt idx="3">
                    <c:v>Isotonic</c:v>
                  </c:pt>
                </c:lvl>
              </c:multiLvlStrCache>
            </c:multiLvlStrRef>
          </c:cat>
          <c:val>
            <c:numRef>
              <c:f>Sheet1!$B$2:$B$5</c:f>
              <c:numCache>
                <c:formatCode>General</c:formatCode>
                <c:ptCount val="4"/>
                <c:pt idx="0">
                  <c:v>0.0163</c:v>
                </c:pt>
                <c:pt idx="1">
                  <c:v>0.0092</c:v>
                </c:pt>
                <c:pt idx="2">
                  <c:v>0.0021</c:v>
                </c:pt>
                <c:pt idx="3">
                  <c:v>0.0045</c:v>
                </c:pt>
              </c:numCache>
            </c:numRef>
          </c:val>
        </c:ser>
        <c:dLbls>
          <c:numFmt formatCode="#,##0" sourceLinked="0"/>
          <c:txPr>
            <a:bodyPr/>
            <a:lstStyle/>
            <a:p>
              <a:pPr>
                <a:defRPr b="0" i="0" strike="noStrike" sz="1200" u="none">
                  <a:solidFill>
                    <a:srgbClr val="002D6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νμ Background</c:v>
                </c:pt>
              </c:strCache>
            </c:strRef>
          </c:tx>
          <c:spPr>
            <a:solidFill>
              <a:srgbClr val="B91C1C"/>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Standard</c:v>
                  </c:pt>
                  <c:pt idx="1">
                    <c:v>MC Dropout</c:v>
                  </c:pt>
                  <c:pt idx="2">
                    <c:v>Temp. Scaling</c:v>
                  </c:pt>
                  <c:pt idx="3">
                    <c:v>Isotonic</c:v>
                  </c:pt>
                </c:lvl>
              </c:multiLvlStrCache>
            </c:multiLvlStrRef>
          </c:cat>
          <c:val>
            <c:numRef>
              <c:f>Sheet1!$B$2:$B$5</c:f>
              <c:numCache>
                <c:formatCode>General</c:formatCode>
                <c:ptCount val="4"/>
                <c:pt idx="0">
                  <c:v>0.0184</c:v>
                </c:pt>
                <c:pt idx="1">
                  <c:v>0.0133</c:v>
                </c:pt>
                <c:pt idx="2">
                  <c:v>0.0077</c:v>
                </c:pt>
                <c:pt idx="3">
                  <c:v>0.0178</c:v>
                </c:pt>
              </c:numCache>
            </c:numRef>
          </c:val>
        </c:ser>
        <c:ser>
          <c:idx val="1"/>
          <c:order val="1"/>
          <c:tx>
            <c:strRef>
              <c:f>Sheet1!$C$1</c:f>
              <c:strCache>
                <c:ptCount val="1"/>
                <c:pt idx="0">
                  <c:v>νₑ Signal</c:v>
                </c:pt>
              </c:strCache>
            </c:strRef>
          </c:tx>
          <c:spPr>
            <a:solidFill>
              <a:srgbClr val="004B9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Standard</c:v>
                  </c:pt>
                  <c:pt idx="1">
                    <c:v>MC Dropout</c:v>
                  </c:pt>
                  <c:pt idx="2">
                    <c:v>Temp. Scaling</c:v>
                  </c:pt>
                  <c:pt idx="3">
                    <c:v>Isotonic</c:v>
                  </c:pt>
                </c:lvl>
              </c:multiLvlStrCache>
            </c:multiLvlStrRef>
          </c:cat>
          <c:val>
            <c:numRef>
              <c:f>Sheet1!$C$2:$C$5</c:f>
              <c:numCache>
                <c:formatCode>General</c:formatCode>
                <c:ptCount val="4"/>
                <c:pt idx="0">
                  <c:v>0.0118</c:v>
                </c:pt>
                <c:pt idx="1">
                  <c:v>0.0102</c:v>
                </c:pt>
                <c:pt idx="2">
                  <c:v>0.0226</c:v>
                </c:pt>
                <c:pt idx="3">
                  <c:v>0.0311</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png"/><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slideLayout" Target="../slideLayouts/slideLayout1.xml"/><Relationship Id="rId6" Type="http://schemas.openxmlformats.org/officeDocument/2006/relationships/notesSlide" Target="../notesSlides/notesSlide1.xml"/><Relationship Id="rId7" Type="http://schemas.openxmlformats.org/officeDocument/2006/relationships/image" Target="../media/image-reliability.png"/><Relationship Id="rId8" Type="http://schemas.openxmlformats.org/officeDocument/2006/relationships/image" Target="../media/image-ood.png"/><Relationship Id="rId9" Type="http://schemas.openxmlformats.org/officeDocument/2006/relationships/image" Target="../media/image-featimportance.png"/><Relationship Id="rId10"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275784" cy="1078992"/>
          </a:xfrm>
          <a:prstGeom prst="rect">
            <a:avLst/>
          </a:prstGeom>
          <a:solidFill>
            <a:srgbClr val="002D6B"/>
          </a:solidFill>
          <a:ln/>
        </p:spPr>
      </p:sp>
      <p:sp>
        <p:nvSpPr>
          <p:cNvPr id="3" name="Shape 1"/>
          <p:cNvSpPr/>
          <p:nvPr/>
        </p:nvSpPr>
        <p:spPr>
          <a:xfrm>
            <a:off x="274320" y="128016"/>
            <a:ext cx="2468880" cy="822960"/>
          </a:xfrm>
          <a:prstGeom prst="roundRect">
            <a:avLst>
              <a:gd name="adj" fmla="val 4444"/>
            </a:avLst>
          </a:prstGeom>
          <a:solidFill>
            <a:srgbClr val="FFFFFF"/>
          </a:solidFill>
          <a:ln w="9525">
            <a:solidFill>
              <a:srgbClr val="AAAAAA"/>
            </a:solidFill>
            <a:prstDash val="solid"/>
          </a:ln>
        </p:spPr>
      </p:sp>
      <p:sp>
        <p:nvSpPr>
          <p:cNvPr id="4" name="Text 2"/>
          <p:cNvSpPr/>
          <p:nvPr/>
        </p:nvSpPr>
        <p:spPr>
          <a:xfrm>
            <a:off x="274320" y="128016"/>
            <a:ext cx="2468880" cy="822960"/>
          </a:xfrm>
          <a:prstGeom prst="rect">
            <a:avLst/>
          </a:prstGeom>
          <a:noFill/>
          <a:ln/>
        </p:spPr>
        <p:txBody>
          <a:bodyPr wrap="square" rtlCol="0" anchor="ctr"/>
          <a:lstStyle/>
          <a:p>
            <a:pPr algn="ctr" indent="0" marL="0">
              <a:buNone/>
            </a:pPr>
            <a:r>
              <a:rPr lang="en-US" sz="1500" b="1" dirty="0">
                <a:solidFill>
                  <a:srgbClr val="002D6B"/>
                </a:solidFill>
                <a:latin typeface="Calibri" pitchFamily="34" charset="0"/>
                <a:ea typeface="Calibri" pitchFamily="34" charset="-122"/>
                <a:cs typeface="Calibri" pitchFamily="34" charset="-120"/>
              </a:rPr>
              <a:t>ICTP</a:t>
            </a:r>
            <a:endParaRPr lang="en-US" sz="1500" dirty="0"/>
          </a:p>
        </p:txBody>
      </p:sp>
      <p:sp>
        <p:nvSpPr>
          <p:cNvPr id="5" name="Shape 3"/>
          <p:cNvSpPr/>
          <p:nvPr/>
        </p:nvSpPr>
        <p:spPr>
          <a:xfrm>
            <a:off x="3108960" y="128016"/>
            <a:ext cx="2468880" cy="822960"/>
          </a:xfrm>
          <a:prstGeom prst="roundRect">
            <a:avLst>
              <a:gd name="adj" fmla="val 4444"/>
            </a:avLst>
          </a:prstGeom>
          <a:solidFill>
            <a:srgbClr val="FFFFFF"/>
          </a:solidFill>
          <a:ln w="9525">
            <a:solidFill>
              <a:srgbClr val="AAAAAA"/>
            </a:solidFill>
            <a:prstDash val="solid"/>
          </a:ln>
        </p:spPr>
      </p:sp>
      <p:sp>
        <p:nvSpPr>
          <p:cNvPr id="6" name="Text 4"/>
          <p:cNvSpPr/>
          <p:nvPr/>
        </p:nvSpPr>
        <p:spPr>
          <a:xfrm>
            <a:off x="3108960" y="128016"/>
            <a:ext cx="2468880" cy="822960"/>
          </a:xfrm>
          <a:prstGeom prst="rect">
            <a:avLst/>
          </a:prstGeom>
          <a:noFill/>
          <a:ln/>
        </p:spPr>
        <p:txBody>
          <a:bodyPr wrap="square" rtlCol="0" anchor="ctr"/>
          <a:lstStyle/>
          <a:p>
            <a:pPr algn="ctr" indent="0" marL="0">
              <a:buNone/>
            </a:pPr>
            <a:r>
              <a:rPr lang="en-US" sz="1500" b="1" dirty="0">
                <a:solidFill>
                  <a:srgbClr val="002D6B"/>
                </a:solidFill>
                <a:latin typeface="Calibri" pitchFamily="34" charset="0"/>
                <a:ea typeface="Calibri" pitchFamily="34" charset="-122"/>
                <a:cs typeface="Calibri" pitchFamily="34" charset="-120"/>
              </a:rPr>
              <a:t>Uni Messina</a:t>
            </a:r>
            <a:endParaRPr lang="en-US" sz="1500" dirty="0"/>
          </a:p>
        </p:txBody>
      </p:sp>
      <p:sp>
        <p:nvSpPr>
          <p:cNvPr id="7" name="Shape 5"/>
          <p:cNvSpPr/>
          <p:nvPr/>
        </p:nvSpPr>
        <p:spPr>
          <a:xfrm>
            <a:off x="5943600" y="128016"/>
            <a:ext cx="2468880" cy="822960"/>
          </a:xfrm>
          <a:prstGeom prst="roundRect">
            <a:avLst>
              <a:gd name="adj" fmla="val 4444"/>
            </a:avLst>
          </a:prstGeom>
          <a:solidFill>
            <a:srgbClr val="FFFFFF"/>
          </a:solidFill>
          <a:ln w="9525">
            <a:solidFill>
              <a:srgbClr val="AAAAAA"/>
            </a:solidFill>
            <a:prstDash val="solid"/>
          </a:ln>
        </p:spPr>
      </p:sp>
      <p:sp>
        <p:nvSpPr>
          <p:cNvPr id="8" name="Text 6"/>
          <p:cNvSpPr/>
          <p:nvPr/>
        </p:nvSpPr>
        <p:spPr>
          <a:xfrm>
            <a:off x="5943600" y="128016"/>
            <a:ext cx="2468880" cy="822960"/>
          </a:xfrm>
          <a:prstGeom prst="rect">
            <a:avLst/>
          </a:prstGeom>
          <a:noFill/>
          <a:ln/>
        </p:spPr>
        <p:txBody>
          <a:bodyPr wrap="square" rtlCol="0" anchor="ctr"/>
          <a:lstStyle/>
          <a:p>
            <a:pPr algn="ctr" indent="0" marL="0">
              <a:buNone/>
            </a:pPr>
            <a:r>
              <a:rPr lang="en-US" sz="1500" b="1" dirty="0">
                <a:solidFill>
                  <a:srgbClr val="002D6B"/>
                </a:solidFill>
                <a:latin typeface="Calibri" pitchFamily="34" charset="0"/>
                <a:ea typeface="Calibri" pitchFamily="34" charset="-122"/>
                <a:cs typeface="Calibri" pitchFamily="34" charset="-120"/>
              </a:rPr>
              <a:t>MAECI</a:t>
            </a:r>
            <a:endParaRPr lang="en-US" sz="1500" dirty="0"/>
          </a:p>
        </p:txBody>
      </p:sp>
      <p:sp>
        <p:nvSpPr>
          <p:cNvPr id="9" name="Shape 7"/>
          <p:cNvSpPr/>
          <p:nvPr/>
        </p:nvSpPr>
        <p:spPr>
          <a:xfrm>
            <a:off x="8778240" y="128016"/>
            <a:ext cx="2468880" cy="822960"/>
          </a:xfrm>
          <a:prstGeom prst="roundRect">
            <a:avLst>
              <a:gd name="adj" fmla="val 4444"/>
            </a:avLst>
          </a:prstGeom>
          <a:solidFill>
            <a:srgbClr val="FFFFFF"/>
          </a:solidFill>
          <a:ln w="9525">
            <a:solidFill>
              <a:srgbClr val="AAAAAA"/>
            </a:solidFill>
            <a:prstDash val="solid"/>
          </a:ln>
        </p:spPr>
      </p:sp>
      <p:sp>
        <p:nvSpPr>
          <p:cNvPr id="10" name="Text 8"/>
          <p:cNvSpPr/>
          <p:nvPr/>
        </p:nvSpPr>
        <p:spPr>
          <a:xfrm>
            <a:off x="8778240" y="128016"/>
            <a:ext cx="2468880" cy="822960"/>
          </a:xfrm>
          <a:prstGeom prst="rect">
            <a:avLst/>
          </a:prstGeom>
          <a:noFill/>
          <a:ln/>
        </p:spPr>
        <p:txBody>
          <a:bodyPr wrap="square" rtlCol="0" anchor="ctr"/>
          <a:lstStyle/>
          <a:p>
            <a:pPr algn="ctr" indent="0" marL="0">
              <a:buNone/>
            </a:pPr>
            <a:r>
              <a:rPr lang="en-US" sz="1500" b="1" dirty="0">
                <a:solidFill>
                  <a:srgbClr val="002D6B"/>
                </a:solidFill>
                <a:latin typeface="Calibri" pitchFamily="34" charset="0"/>
                <a:ea typeface="Calibri" pitchFamily="34" charset="-122"/>
                <a:cs typeface="Calibri" pitchFamily="34" charset="-120"/>
              </a:rPr>
              <a:t>Erasmus+</a:t>
            </a:r>
            <a:endParaRPr lang="en-US" sz="1500" dirty="0"/>
          </a:p>
        </p:txBody>
      </p:sp>
      <p:sp>
        <p:nvSpPr>
          <p:cNvPr id="11" name="Shape 9"/>
          <p:cNvSpPr/>
          <p:nvPr/>
        </p:nvSpPr>
        <p:spPr>
          <a:xfrm>
            <a:off x="26160984" y="0"/>
            <a:ext cx="4114800" cy="1078992"/>
          </a:xfrm>
          <a:prstGeom prst="rect">
            <a:avLst/>
          </a:prstGeom>
          <a:solidFill>
            <a:srgbClr val="004B9B"/>
          </a:solidFill>
          <a:ln/>
        </p:spPr>
      </p:sp>
      <p:sp>
        <p:nvSpPr>
          <p:cNvPr id="12" name="Text 10"/>
          <p:cNvSpPr/>
          <p:nvPr/>
        </p:nvSpPr>
        <p:spPr>
          <a:xfrm>
            <a:off x="26252424" y="54864"/>
            <a:ext cx="3931920" cy="10058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International Centre for</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Theoretical Physics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ICTP Trieste · July 2026</a:t>
            </a:r>
            <a:endParaRPr lang="en-US" sz="1200" dirty="0"/>
          </a:p>
        </p:txBody>
      </p:sp>
      <p:sp>
        <p:nvSpPr>
          <p:cNvPr id="13" name="Shape 11"/>
          <p:cNvSpPr/>
          <p:nvPr/>
        </p:nvSpPr>
        <p:spPr>
          <a:xfrm>
            <a:off x="0" y="1078992"/>
            <a:ext cx="30275784" cy="2743200"/>
          </a:xfrm>
          <a:prstGeom prst="rect">
            <a:avLst/>
          </a:prstGeom>
          <a:solidFill>
            <a:srgbClr val="FFFFFF"/>
          </a:solidFill>
          <a:ln/>
        </p:spPr>
      </p:sp>
      <p:sp>
        <p:nvSpPr>
          <p:cNvPr id="14" name="Text 12"/>
          <p:cNvSpPr/>
          <p:nvPr/>
        </p:nvSpPr>
        <p:spPr>
          <a:xfrm>
            <a:off x="457200" y="1152144"/>
            <a:ext cx="29361384" cy="1536192"/>
          </a:xfrm>
          <a:prstGeom prst="rect">
            <a:avLst/>
          </a:prstGeom>
          <a:noFill/>
          <a:ln/>
        </p:spPr>
        <p:txBody>
          <a:bodyPr wrap="square" rtlCol="0" anchor="ctr"/>
          <a:lstStyle/>
          <a:p>
            <a:pPr algn="ctr" indent="0" marL="0">
              <a:buNone/>
            </a:pPr>
            <a:r>
              <a:rPr lang="en-US" sz="3300" b="1" dirty="0">
                <a:solidFill>
                  <a:srgbClr val="002D6B"/>
                </a:solidFill>
                <a:latin typeface="Calibri" pitchFamily="34" charset="0"/>
                <a:ea typeface="Calibri" pitchFamily="34" charset="-122"/>
                <a:cs typeface="Calibri" pitchFamily="34" charset="-120"/>
              </a:rPr>
              <a:t>Toward Robust Deep Learning: Evaluating Uncertainty in</a:t>
            </a:r>
            <a:endParaRPr lang="en-US" sz="3300" dirty="0"/>
          </a:p>
          <a:p>
            <a:pPr algn="ctr" indent="0" marL="0">
              <a:buNone/>
            </a:pPr>
            <a:r>
              <a:rPr lang="en-US" sz="3300" b="1" dirty="0">
                <a:solidFill>
                  <a:srgbClr val="002D6B"/>
                </a:solidFill>
                <a:latin typeface="Calibri" pitchFamily="34" charset="0"/>
                <a:ea typeface="Calibri" pitchFamily="34" charset="-122"/>
                <a:cs typeface="Calibri" pitchFamily="34" charset="-120"/>
              </a:rPr>
              <a:t>Transformer-Based Architectures for Scientific Data</a:t>
            </a:r>
            <a:endParaRPr lang="en-US" sz="3300" dirty="0"/>
          </a:p>
        </p:txBody>
      </p:sp>
      <p:sp>
        <p:nvSpPr>
          <p:cNvPr id="15" name="Text 13"/>
          <p:cNvSpPr/>
          <p:nvPr/>
        </p:nvSpPr>
        <p:spPr>
          <a:xfrm>
            <a:off x="457200" y="2743200"/>
            <a:ext cx="29361384" cy="329184"/>
          </a:xfrm>
          <a:prstGeom prst="rect">
            <a:avLst/>
          </a:prstGeom>
          <a:noFill/>
          <a:ln/>
        </p:spPr>
        <p:txBody>
          <a:bodyPr wrap="square" rtlCol="0" anchor="ctr"/>
          <a:lstStyle/>
          <a:p>
            <a:pPr algn="ctr" indent="0" marL="0">
              <a:buNone/>
            </a:pPr>
            <a:r>
              <a:rPr lang="en-US" sz="1350" dirty="0">
                <a:solidFill>
                  <a:srgbClr val="555555"/>
                </a:solidFill>
                <a:latin typeface="Calibri" pitchFamily="34" charset="0"/>
                <a:ea typeface="Calibri" pitchFamily="34" charset="-122"/>
                <a:cs typeface="Calibri" pitchFamily="34" charset="-120"/>
              </a:rPr>
              <a:t>Nada Ibrahim Abdelrahman Elhassan  ·  inada350@gmail.com  ·  M.Sc. Data Science, University of Messina</a:t>
            </a:r>
            <a:endParaRPr lang="en-US" sz="1350" dirty="0"/>
          </a:p>
        </p:txBody>
      </p:sp>
      <p:sp>
        <p:nvSpPr>
          <p:cNvPr id="16" name="Text 14"/>
          <p:cNvSpPr/>
          <p:nvPr/>
        </p:nvSpPr>
        <p:spPr>
          <a:xfrm>
            <a:off x="457200" y="3090672"/>
            <a:ext cx="29361384" cy="292608"/>
          </a:xfrm>
          <a:prstGeom prst="rect">
            <a:avLst/>
          </a:prstGeom>
          <a:noFill/>
          <a:ln/>
        </p:spPr>
        <p:txBody>
          <a:bodyPr wrap="square" rtlCol="0" anchor="ctr"/>
          <a:lstStyle/>
          <a:p>
            <a:pPr algn="ctr" indent="0" marL="0">
              <a:buNone/>
            </a:pPr>
            <a:r>
              <a:rPr lang="en-US" sz="1200" i="1" dirty="0">
                <a:solidFill>
                  <a:srgbClr val="555555"/>
                </a:solidFill>
                <a:latin typeface="Calibri" pitchFamily="34" charset="0"/>
                <a:ea typeface="Calibri" pitchFamily="34" charset="-122"/>
                <a:cs typeface="Calibri" pitchFamily="34" charset="-120"/>
              </a:rPr>
              <a:t>Supervisor: Prof. [Advisor Name] · MAECI Scholar · Erasmus+ Grantee</a:t>
            </a:r>
            <a:endParaRPr lang="en-US" sz="1200" dirty="0"/>
          </a:p>
        </p:txBody>
      </p:sp>
      <p:sp>
        <p:nvSpPr>
          <p:cNvPr id="17" name="Shape 15"/>
          <p:cNvSpPr/>
          <p:nvPr/>
        </p:nvSpPr>
        <p:spPr>
          <a:xfrm>
            <a:off x="0" y="3749040"/>
            <a:ext cx="30275784" cy="109728"/>
          </a:xfrm>
          <a:prstGeom prst="rect">
            <a:avLst/>
          </a:prstGeom>
          <a:solidFill>
            <a:srgbClr val="004B9B"/>
          </a:solidFill>
          <a:ln/>
        </p:spPr>
      </p:sp>
      <p:sp>
        <p:nvSpPr>
          <p:cNvPr id="18" name="Shape 16"/>
          <p:cNvSpPr/>
          <p:nvPr/>
        </p:nvSpPr>
        <p:spPr>
          <a:xfrm>
            <a:off x="347472" y="4251960"/>
            <a:ext cx="9573768" cy="493776"/>
          </a:xfrm>
          <a:prstGeom prst="rect">
            <a:avLst/>
          </a:prstGeom>
          <a:solidFill>
            <a:srgbClr val="004B9B"/>
          </a:solidFill>
          <a:ln/>
        </p:spPr>
      </p:sp>
      <p:sp>
        <p:nvSpPr>
          <p:cNvPr id="19" name="Text 17"/>
          <p:cNvSpPr/>
          <p:nvPr/>
        </p:nvSpPr>
        <p:spPr>
          <a:xfrm>
            <a:off x="484632" y="4297680"/>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① Abstract</a:t>
            </a:r>
            <a:endParaRPr lang="en-US" sz="1400" dirty="0"/>
          </a:p>
        </p:txBody>
      </p:sp>
      <p:sp>
        <p:nvSpPr>
          <p:cNvPr id="20" name="Text 18"/>
          <p:cNvSpPr/>
          <p:nvPr/>
        </p:nvSpPr>
        <p:spPr>
          <a:xfrm>
            <a:off x="347472" y="4818888"/>
            <a:ext cx="9573768" cy="658368"/>
          </a:xfrm>
          <a:prstGeom prst="rect">
            <a:avLst/>
          </a:prstGeom>
          <a:noFill/>
          <a:ln/>
        </p:spPr>
        <p:txBody>
          <a:bodyPr wrap="square" lIns="25400" tIns="25400" rIns="25400" bIns="25400" rtlCol="0" anchor="ctr"/>
          <a:lstStyle/>
          <a:p>
            <a:pPr indent="0" marL="0">
              <a:buNone/>
            </a:pPr>
            <a:r>
              <a:rPr lang="en-US" sz="1250" b="1" dirty="0">
                <a:solidFill>
                  <a:srgbClr val="004B9B"/>
                </a:solidFill>
                <a:latin typeface="Calibri" pitchFamily="34" charset="0"/>
                <a:ea typeface="Calibri" pitchFamily="34" charset="-122"/>
                <a:cs typeface="Calibri" pitchFamily="34" charset="-120"/>
              </a:rPr>
              <a:t xml:space="preserve">Why:  </a:t>
            </a:r>
            <a:pPr indent="0" marL="0">
              <a:buNone/>
            </a:pPr>
            <a:r>
              <a:rPr lang="en-US" sz="1250" dirty="0">
                <a:solidFill>
                  <a:srgbClr val="111111"/>
                </a:solidFill>
                <a:latin typeface="Calibri" pitchFamily="34" charset="0"/>
                <a:ea typeface="Calibri" pitchFamily="34" charset="-122"/>
                <a:cs typeface="Calibri" pitchFamily="34" charset="-120"/>
              </a:rPr>
              <a:t>Particle physics experiments depend on reliable model confidence scores for event selection and trigger decisions. A miscalibrated model silently distorts analyses — discarding genuine signal events or polluting samples with background.</a:t>
            </a:r>
            <a:endParaRPr lang="en-US" sz="1250" dirty="0"/>
          </a:p>
        </p:txBody>
      </p:sp>
      <p:sp>
        <p:nvSpPr>
          <p:cNvPr id="21" name="Text 19"/>
          <p:cNvSpPr/>
          <p:nvPr/>
        </p:nvSpPr>
        <p:spPr>
          <a:xfrm>
            <a:off x="347472" y="5504688"/>
            <a:ext cx="9573768" cy="658368"/>
          </a:xfrm>
          <a:prstGeom prst="rect">
            <a:avLst/>
          </a:prstGeom>
          <a:noFill/>
          <a:ln/>
        </p:spPr>
        <p:txBody>
          <a:bodyPr wrap="square" lIns="25400" tIns="25400" rIns="25400" bIns="25400" rtlCol="0" anchor="ctr"/>
          <a:lstStyle/>
          <a:p>
            <a:pPr indent="0" marL="0">
              <a:buNone/>
            </a:pPr>
            <a:r>
              <a:rPr lang="en-US" sz="1250" b="1" dirty="0">
                <a:solidFill>
                  <a:srgbClr val="004B9B"/>
                </a:solidFill>
                <a:latin typeface="Calibri" pitchFamily="34" charset="0"/>
                <a:ea typeface="Calibri" pitchFamily="34" charset="-122"/>
                <a:cs typeface="Calibri" pitchFamily="34" charset="-120"/>
              </a:rPr>
              <a:t xml:space="preserve">What:  </a:t>
            </a:r>
            <a:pPr indent="0" marL="0">
              <a:buNone/>
            </a:pPr>
            <a:r>
              <a:rPr lang="en-US" sz="1250" dirty="0">
                <a:solidFill>
                  <a:srgbClr val="111111"/>
                </a:solidFill>
                <a:latin typeface="Calibri" pitchFamily="34" charset="0"/>
                <a:ea typeface="Calibri" pitchFamily="34" charset="-122"/>
                <a:cs typeface="Calibri" pitchFamily="34" charset="-120"/>
              </a:rPr>
              <a:t>We evaluate epistemic uncertainty — model uncertainty arising from limited knowledge, not inherent data noise — in an FT-Transformer trained on MiniBooNE (Fermilab, 130k νₑ/νμ events, 50 kinematic features).</a:t>
            </a:r>
            <a:endParaRPr lang="en-US" sz="1250" dirty="0"/>
          </a:p>
        </p:txBody>
      </p:sp>
      <p:sp>
        <p:nvSpPr>
          <p:cNvPr id="22" name="Text 20"/>
          <p:cNvSpPr/>
          <p:nvPr/>
        </p:nvSpPr>
        <p:spPr>
          <a:xfrm>
            <a:off x="347472" y="6190488"/>
            <a:ext cx="9573768" cy="658368"/>
          </a:xfrm>
          <a:prstGeom prst="rect">
            <a:avLst/>
          </a:prstGeom>
          <a:noFill/>
          <a:ln/>
        </p:spPr>
        <p:txBody>
          <a:bodyPr wrap="square" lIns="25400" tIns="25400" rIns="25400" bIns="25400" rtlCol="0" anchor="ctr"/>
          <a:lstStyle/>
          <a:p>
            <a:pPr indent="0" marL="0">
              <a:buNone/>
            </a:pPr>
            <a:r>
              <a:rPr lang="en-US" sz="1250" b="1" dirty="0">
                <a:solidFill>
                  <a:srgbClr val="004B9B"/>
                </a:solidFill>
                <a:latin typeface="Calibri" pitchFamily="34" charset="0"/>
                <a:ea typeface="Calibri" pitchFamily="34" charset="-122"/>
                <a:cs typeface="Calibri" pitchFamily="34" charset="-120"/>
              </a:rPr>
              <a:t xml:space="preserve">How:  </a:t>
            </a:r>
            <a:pPr indent="0" marL="0">
              <a:buNone/>
            </a:pPr>
            <a:r>
              <a:rPr lang="en-US" sz="1250" dirty="0">
                <a:solidFill>
                  <a:srgbClr val="111111"/>
                </a:solidFill>
                <a:latin typeface="Calibri" pitchFamily="34" charset="0"/>
                <a:ea typeface="Calibri" pitchFamily="34" charset="-122"/>
                <a:cs typeface="Calibri" pitchFamily="34" charset="-120"/>
              </a:rPr>
              <a:t>Four post-hoc UQ methods compared: Standard · MC Dropout (Bayesian approximation, epistemic) · Temperature Scaling · Isotonic Regression. Evaluated on ECE, NLL, Brier Score, and balanced accuracy.</a:t>
            </a:r>
            <a:endParaRPr lang="en-US" sz="1250" dirty="0"/>
          </a:p>
        </p:txBody>
      </p:sp>
      <p:sp>
        <p:nvSpPr>
          <p:cNvPr id="23" name="Text 21"/>
          <p:cNvSpPr/>
          <p:nvPr/>
        </p:nvSpPr>
        <p:spPr>
          <a:xfrm>
            <a:off x="347472" y="6876288"/>
            <a:ext cx="9573768" cy="658368"/>
          </a:xfrm>
          <a:prstGeom prst="rect">
            <a:avLst/>
          </a:prstGeom>
          <a:noFill/>
          <a:ln/>
        </p:spPr>
        <p:txBody>
          <a:bodyPr wrap="square" lIns="25400" tIns="25400" rIns="25400" bIns="25400" rtlCol="0" anchor="ctr"/>
          <a:lstStyle/>
          <a:p>
            <a:pPr indent="0" marL="0">
              <a:buNone/>
            </a:pPr>
            <a:r>
              <a:rPr lang="en-US" sz="1250" b="1" dirty="0">
                <a:solidFill>
                  <a:srgbClr val="004B9B"/>
                </a:solidFill>
                <a:latin typeface="Calibri" pitchFamily="34" charset="0"/>
                <a:ea typeface="Calibri" pitchFamily="34" charset="-122"/>
                <a:cs typeface="Calibri" pitchFamily="34" charset="-120"/>
              </a:rPr>
              <a:t xml:space="preserve">Finding:  </a:t>
            </a:r>
            <a:pPr indent="0" marL="0">
              <a:buNone/>
            </a:pPr>
            <a:r>
              <a:rPr lang="en-US" sz="1250" dirty="0">
                <a:solidFill>
                  <a:srgbClr val="111111"/>
                </a:solidFill>
                <a:latin typeface="Calibri" pitchFamily="34" charset="0"/>
                <a:ea typeface="Calibri" pitchFamily="34" charset="-122"/>
                <a:cs typeface="Calibri" pitchFamily="34" charset="-120"/>
              </a:rPr>
              <a:t>Temperature Scaling reduces overall ECE by 87% — but worsens rare νₑ signal calibration by 92%, exposing a hidden class-fairness failure critical for physics applications.</a:t>
            </a:r>
            <a:endParaRPr lang="en-US" sz="1250" dirty="0"/>
          </a:p>
        </p:txBody>
      </p:sp>
      <p:sp>
        <p:nvSpPr>
          <p:cNvPr id="24" name="Shape 22"/>
          <p:cNvSpPr/>
          <p:nvPr/>
        </p:nvSpPr>
        <p:spPr>
          <a:xfrm>
            <a:off x="347472" y="7635240"/>
            <a:ext cx="9573768" cy="804672"/>
          </a:xfrm>
          <a:prstGeom prst="rect">
            <a:avLst/>
          </a:prstGeom>
          <a:solidFill>
            <a:srgbClr val="EAF4EA"/>
          </a:solidFill>
          <a:ln w="12700">
            <a:solidFill>
              <a:srgbClr val="166534"/>
            </a:solidFill>
            <a:prstDash val="solid"/>
          </a:ln>
        </p:spPr>
      </p:sp>
      <p:sp>
        <p:nvSpPr>
          <p:cNvPr id="25" name="Text 23"/>
          <p:cNvSpPr/>
          <p:nvPr/>
        </p:nvSpPr>
        <p:spPr>
          <a:xfrm>
            <a:off x="457200" y="7708392"/>
            <a:ext cx="9354312" cy="676656"/>
          </a:xfrm>
          <a:prstGeom prst="rect">
            <a:avLst/>
          </a:prstGeom>
          <a:noFill/>
          <a:ln/>
        </p:spPr>
        <p:txBody>
          <a:bodyPr wrap="square" rtlCol="0" anchor="ctr"/>
          <a:lstStyle/>
          <a:p>
            <a:pPr indent="0" marL="0">
              <a:buNone/>
            </a:pPr>
            <a:r>
              <a:rPr lang="en-US" sz="1200" b="1" dirty="0">
                <a:solidFill>
                  <a:srgbClr val="166534"/>
                </a:solidFill>
                <a:latin typeface="Calibri" pitchFamily="34" charset="0"/>
                <a:ea typeface="Calibri" pitchFamily="34" charset="-122"/>
                <a:cs typeface="Calibri" pitchFamily="34" charset="-120"/>
              </a:rPr>
              <a:t xml:space="preserve">★  Novel contribution: </a:t>
            </a:r>
            <a:pPr indent="0" marL="0">
              <a:buNone/>
            </a:pPr>
            <a:r>
              <a:rPr lang="en-US" sz="1200" dirty="0">
                <a:solidFill>
                  <a:srgbClr val="111111"/>
                </a:solidFill>
                <a:latin typeface="Calibri" pitchFamily="34" charset="0"/>
                <a:ea typeface="Calibri" pitchFamily="34" charset="-122"/>
                <a:cs typeface="Calibri" pitchFamily="34" charset="-120"/>
              </a:rPr>
              <a:t xml:space="preserve">We characterise </a:t>
            </a:r>
            <a:pPr indent="0" marL="0">
              <a:buNone/>
            </a:pPr>
            <a:r>
              <a:rPr lang="en-US" sz="1200" i="1" dirty="0">
                <a:solidFill>
                  <a:srgbClr val="111111"/>
                </a:solidFill>
                <a:latin typeface="Calibri" pitchFamily="34" charset="0"/>
                <a:ea typeface="Calibri" pitchFamily="34" charset="-122"/>
                <a:cs typeface="Calibri" pitchFamily="34" charset="-120"/>
              </a:rPr>
              <a:t>epistemic</a:t>
            </a:r>
            <a:pPr indent="0" marL="0">
              <a:buNone/>
            </a:pPr>
            <a:r>
              <a:rPr lang="en-US" sz="1200" dirty="0">
                <a:solidFill>
                  <a:srgbClr val="111111"/>
                </a:solidFill>
                <a:latin typeface="Calibri" pitchFamily="34" charset="0"/>
                <a:ea typeface="Calibri" pitchFamily="34" charset="-122"/>
                <a:cs typeface="Calibri" pitchFamily="34" charset="-120"/>
              </a:rPr>
              <a:t xml:space="preserve"> (model) uncertainty in FT-Transformer-based particle classification — revealing that global calibration methods systematically fail the rare νₑ signal class, a previously unexamined failure mode in imbalanced HEP data.</a:t>
            </a:r>
            <a:endParaRPr lang="en-US" sz="1200" dirty="0"/>
          </a:p>
        </p:txBody>
      </p:sp>
      <p:sp>
        <p:nvSpPr>
          <p:cNvPr id="26" name="Shape 24"/>
          <p:cNvSpPr/>
          <p:nvPr/>
        </p:nvSpPr>
        <p:spPr>
          <a:xfrm>
            <a:off x="772668" y="8567928"/>
            <a:ext cx="1920240" cy="1481328"/>
          </a:xfrm>
          <a:prstGeom prst="roundRect">
            <a:avLst>
              <a:gd name="adj" fmla="val 4938"/>
            </a:avLst>
          </a:prstGeom>
          <a:solidFill>
            <a:srgbClr val="E8EFF8"/>
          </a:solidFill>
          <a:ln w="9525">
            <a:solidFill>
              <a:srgbClr val="004B9B"/>
            </a:solidFill>
            <a:prstDash val="solid"/>
          </a:ln>
        </p:spPr>
      </p:sp>
      <p:sp>
        <p:nvSpPr>
          <p:cNvPr id="27" name="Text 25"/>
          <p:cNvSpPr/>
          <p:nvPr/>
        </p:nvSpPr>
        <p:spPr>
          <a:xfrm>
            <a:off x="772668" y="8659368"/>
            <a:ext cx="1920240" cy="685800"/>
          </a:xfrm>
          <a:prstGeom prst="rect">
            <a:avLst/>
          </a:prstGeom>
          <a:noFill/>
          <a:ln/>
        </p:spPr>
        <p:txBody>
          <a:bodyPr wrap="square" rtlCol="0" anchor="ctr"/>
          <a:lstStyle/>
          <a:p>
            <a:pPr algn="ctr" indent="0" marL="0">
              <a:buNone/>
            </a:pPr>
            <a:r>
              <a:rPr lang="en-US" sz="1350" b="1" dirty="0">
                <a:solidFill>
                  <a:srgbClr val="002D6B"/>
                </a:solidFill>
                <a:latin typeface="Calibri" pitchFamily="34" charset="0"/>
                <a:ea typeface="Calibri" pitchFamily="34" charset="-122"/>
                <a:cs typeface="Calibri" pitchFamily="34" charset="-120"/>
              </a:rPr>
              <a:t>MiniBooNE</a:t>
            </a:r>
            <a:endParaRPr lang="en-US" sz="1350" dirty="0"/>
          </a:p>
          <a:p>
            <a:pPr algn="ctr" indent="0" marL="0">
              <a:buNone/>
            </a:pPr>
            <a:r>
              <a:rPr lang="en-US" sz="1350" b="1" dirty="0">
                <a:solidFill>
                  <a:srgbClr val="002D6B"/>
                </a:solidFill>
                <a:latin typeface="Calibri" pitchFamily="34" charset="0"/>
                <a:ea typeface="Calibri" pitchFamily="34" charset="-122"/>
                <a:cs typeface="Calibri" pitchFamily="34" charset="-120"/>
              </a:rPr>
              <a:t>Data</a:t>
            </a:r>
            <a:endParaRPr lang="en-US" sz="1350" dirty="0"/>
          </a:p>
        </p:txBody>
      </p:sp>
      <p:sp>
        <p:nvSpPr>
          <p:cNvPr id="28" name="Text 26"/>
          <p:cNvSpPr/>
          <p:nvPr/>
        </p:nvSpPr>
        <p:spPr>
          <a:xfrm>
            <a:off x="772668" y="9372600"/>
            <a:ext cx="1920240" cy="530352"/>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130k events</a:t>
            </a:r>
            <a:endParaRPr lang="en-US" sz="1100" dirty="0"/>
          </a:p>
          <a:p>
            <a:pPr algn="ctr" indent="0" marL="0">
              <a:buNone/>
            </a:pPr>
            <a:r>
              <a:rPr lang="en-US" sz="1100" dirty="0">
                <a:solidFill>
                  <a:srgbClr val="555555"/>
                </a:solidFill>
                <a:latin typeface="Calibri" pitchFamily="34" charset="0"/>
                <a:ea typeface="Calibri" pitchFamily="34" charset="-122"/>
                <a:cs typeface="Calibri" pitchFamily="34" charset="-120"/>
              </a:rPr>
              <a:t>50 features</a:t>
            </a:r>
            <a:endParaRPr lang="en-US" sz="1100" dirty="0"/>
          </a:p>
        </p:txBody>
      </p:sp>
      <p:sp>
        <p:nvSpPr>
          <p:cNvPr id="29" name="Shape 27"/>
          <p:cNvSpPr/>
          <p:nvPr/>
        </p:nvSpPr>
        <p:spPr>
          <a:xfrm>
            <a:off x="2729484" y="9308592"/>
            <a:ext cx="274320" cy="0"/>
          </a:xfrm>
          <a:prstGeom prst="line">
            <a:avLst/>
          </a:prstGeom>
          <a:noFill/>
          <a:ln w="25400">
            <a:solidFill>
              <a:srgbClr val="007A78"/>
            </a:solidFill>
            <a:prstDash val="solid"/>
            <a:tailEnd type="triangle"/>
          </a:ln>
        </p:spPr>
      </p:sp>
      <p:sp>
        <p:nvSpPr>
          <p:cNvPr id="30" name="Shape 28"/>
          <p:cNvSpPr/>
          <p:nvPr/>
        </p:nvSpPr>
        <p:spPr>
          <a:xfrm>
            <a:off x="3040380" y="8567928"/>
            <a:ext cx="1920240" cy="1481328"/>
          </a:xfrm>
          <a:prstGeom prst="roundRect">
            <a:avLst>
              <a:gd name="adj" fmla="val 4938"/>
            </a:avLst>
          </a:prstGeom>
          <a:solidFill>
            <a:srgbClr val="EEF5FF"/>
          </a:solidFill>
          <a:ln w="9525">
            <a:solidFill>
              <a:srgbClr val="004B9B"/>
            </a:solidFill>
            <a:prstDash val="solid"/>
          </a:ln>
        </p:spPr>
      </p:sp>
      <p:sp>
        <p:nvSpPr>
          <p:cNvPr id="31" name="Text 29"/>
          <p:cNvSpPr/>
          <p:nvPr/>
        </p:nvSpPr>
        <p:spPr>
          <a:xfrm>
            <a:off x="3040380" y="8659368"/>
            <a:ext cx="1920240" cy="685800"/>
          </a:xfrm>
          <a:prstGeom prst="rect">
            <a:avLst/>
          </a:prstGeom>
          <a:noFill/>
          <a:ln/>
        </p:spPr>
        <p:txBody>
          <a:bodyPr wrap="square" rtlCol="0" anchor="ctr"/>
          <a:lstStyle/>
          <a:p>
            <a:pPr algn="ctr" indent="0" marL="0">
              <a:buNone/>
            </a:pPr>
            <a:r>
              <a:rPr lang="en-US" sz="1350" b="1" dirty="0">
                <a:solidFill>
                  <a:srgbClr val="004B9B"/>
                </a:solidFill>
                <a:latin typeface="Calibri" pitchFamily="34" charset="0"/>
                <a:ea typeface="Calibri" pitchFamily="34" charset="-122"/>
                <a:cs typeface="Calibri" pitchFamily="34" charset="-120"/>
              </a:rPr>
              <a:t>FT-</a:t>
            </a:r>
            <a:endParaRPr lang="en-US" sz="1350" dirty="0"/>
          </a:p>
          <a:p>
            <a:pPr algn="ctr" indent="0" marL="0">
              <a:buNone/>
            </a:pPr>
            <a:r>
              <a:rPr lang="en-US" sz="1350" b="1" dirty="0">
                <a:solidFill>
                  <a:srgbClr val="004B9B"/>
                </a:solidFill>
                <a:latin typeface="Calibri" pitchFamily="34" charset="0"/>
                <a:ea typeface="Calibri" pitchFamily="34" charset="-122"/>
                <a:cs typeface="Calibri" pitchFamily="34" charset="-120"/>
              </a:rPr>
              <a:t>Transformer</a:t>
            </a:r>
            <a:endParaRPr lang="en-US" sz="1350" dirty="0"/>
          </a:p>
        </p:txBody>
      </p:sp>
      <p:sp>
        <p:nvSpPr>
          <p:cNvPr id="32" name="Text 30"/>
          <p:cNvSpPr/>
          <p:nvPr/>
        </p:nvSpPr>
        <p:spPr>
          <a:xfrm>
            <a:off x="3040380" y="9372600"/>
            <a:ext cx="1920240" cy="530352"/>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d=64, 2 layers</a:t>
            </a:r>
            <a:endParaRPr lang="en-US" sz="1100" dirty="0"/>
          </a:p>
          <a:p>
            <a:pPr algn="ctr" indent="0" marL="0">
              <a:buNone/>
            </a:pPr>
            <a:r>
              <a:rPr lang="en-US" sz="1100" dirty="0">
                <a:solidFill>
                  <a:srgbClr val="555555"/>
                </a:solidFill>
                <a:latin typeface="Calibri" pitchFamily="34" charset="0"/>
                <a:ea typeface="Calibri" pitchFamily="34" charset="-122"/>
                <a:cs typeface="Calibri" pitchFamily="34" charset="-120"/>
              </a:rPr>
              <a:t>MC Dropout</a:t>
            </a:r>
            <a:endParaRPr lang="en-US" sz="1100" dirty="0"/>
          </a:p>
        </p:txBody>
      </p:sp>
      <p:sp>
        <p:nvSpPr>
          <p:cNvPr id="33" name="Shape 31"/>
          <p:cNvSpPr/>
          <p:nvPr/>
        </p:nvSpPr>
        <p:spPr>
          <a:xfrm>
            <a:off x="4997196" y="9308592"/>
            <a:ext cx="274320" cy="0"/>
          </a:xfrm>
          <a:prstGeom prst="line">
            <a:avLst/>
          </a:prstGeom>
          <a:noFill/>
          <a:ln w="25400">
            <a:solidFill>
              <a:srgbClr val="007A78"/>
            </a:solidFill>
            <a:prstDash val="solid"/>
            <a:tailEnd type="triangle"/>
          </a:ln>
        </p:spPr>
      </p:sp>
      <p:sp>
        <p:nvSpPr>
          <p:cNvPr id="34" name="Shape 32"/>
          <p:cNvSpPr/>
          <p:nvPr/>
        </p:nvSpPr>
        <p:spPr>
          <a:xfrm>
            <a:off x="5308092" y="8567928"/>
            <a:ext cx="1920240" cy="1481328"/>
          </a:xfrm>
          <a:prstGeom prst="roundRect">
            <a:avLst>
              <a:gd name="adj" fmla="val 4938"/>
            </a:avLst>
          </a:prstGeom>
          <a:solidFill>
            <a:srgbClr val="E0F5F2"/>
          </a:solidFill>
          <a:ln w="9525">
            <a:solidFill>
              <a:srgbClr val="007A78"/>
            </a:solidFill>
            <a:prstDash val="solid"/>
          </a:ln>
        </p:spPr>
      </p:sp>
      <p:sp>
        <p:nvSpPr>
          <p:cNvPr id="35" name="Text 33"/>
          <p:cNvSpPr/>
          <p:nvPr/>
        </p:nvSpPr>
        <p:spPr>
          <a:xfrm>
            <a:off x="5308092" y="8659368"/>
            <a:ext cx="1920240" cy="685800"/>
          </a:xfrm>
          <a:prstGeom prst="rect">
            <a:avLst/>
          </a:prstGeom>
          <a:noFill/>
          <a:ln/>
        </p:spPr>
        <p:txBody>
          <a:bodyPr wrap="square" rtlCol="0" anchor="ctr"/>
          <a:lstStyle/>
          <a:p>
            <a:pPr algn="ctr" indent="0" marL="0">
              <a:buNone/>
            </a:pPr>
            <a:r>
              <a:rPr lang="en-US" sz="1350" b="1" dirty="0">
                <a:solidFill>
                  <a:srgbClr val="007A78"/>
                </a:solidFill>
                <a:latin typeface="Calibri" pitchFamily="34" charset="0"/>
                <a:ea typeface="Calibri" pitchFamily="34" charset="-122"/>
                <a:cs typeface="Calibri" pitchFamily="34" charset="-120"/>
              </a:rPr>
              <a:t>4 UQ</a:t>
            </a:r>
            <a:endParaRPr lang="en-US" sz="1350" dirty="0"/>
          </a:p>
          <a:p>
            <a:pPr algn="ctr" indent="0" marL="0">
              <a:buNone/>
            </a:pPr>
            <a:r>
              <a:rPr lang="en-US" sz="1350" b="1" dirty="0">
                <a:solidFill>
                  <a:srgbClr val="007A78"/>
                </a:solidFill>
                <a:latin typeface="Calibri" pitchFamily="34" charset="0"/>
                <a:ea typeface="Calibri" pitchFamily="34" charset="-122"/>
                <a:cs typeface="Calibri" pitchFamily="34" charset="-120"/>
              </a:rPr>
              <a:t>Methods</a:t>
            </a:r>
            <a:endParaRPr lang="en-US" sz="1350" dirty="0"/>
          </a:p>
        </p:txBody>
      </p:sp>
      <p:sp>
        <p:nvSpPr>
          <p:cNvPr id="36" name="Text 34"/>
          <p:cNvSpPr/>
          <p:nvPr/>
        </p:nvSpPr>
        <p:spPr>
          <a:xfrm>
            <a:off x="5308092" y="9372600"/>
            <a:ext cx="1920240" cy="530352"/>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Std·MC·TS·IR</a:t>
            </a:r>
            <a:endParaRPr lang="en-US" sz="1100" dirty="0"/>
          </a:p>
        </p:txBody>
      </p:sp>
      <p:sp>
        <p:nvSpPr>
          <p:cNvPr id="37" name="Shape 35"/>
          <p:cNvSpPr/>
          <p:nvPr/>
        </p:nvSpPr>
        <p:spPr>
          <a:xfrm>
            <a:off x="7264908" y="9308592"/>
            <a:ext cx="274320" cy="0"/>
          </a:xfrm>
          <a:prstGeom prst="line">
            <a:avLst/>
          </a:prstGeom>
          <a:noFill/>
          <a:ln w="25400">
            <a:solidFill>
              <a:srgbClr val="007A78"/>
            </a:solidFill>
            <a:prstDash val="solid"/>
            <a:tailEnd type="triangle"/>
          </a:ln>
        </p:spPr>
      </p:sp>
      <p:sp>
        <p:nvSpPr>
          <p:cNvPr id="38" name="Shape 36"/>
          <p:cNvSpPr/>
          <p:nvPr/>
        </p:nvSpPr>
        <p:spPr>
          <a:xfrm>
            <a:off x="7575804" y="8567928"/>
            <a:ext cx="1920240" cy="1481328"/>
          </a:xfrm>
          <a:prstGeom prst="roundRect">
            <a:avLst>
              <a:gd name="adj" fmla="val 4938"/>
            </a:avLst>
          </a:prstGeom>
          <a:solidFill>
            <a:srgbClr val="EAF4EA"/>
          </a:solidFill>
          <a:ln w="9525">
            <a:solidFill>
              <a:srgbClr val="166534"/>
            </a:solidFill>
            <a:prstDash val="solid"/>
          </a:ln>
        </p:spPr>
      </p:sp>
      <p:sp>
        <p:nvSpPr>
          <p:cNvPr id="39" name="Text 37"/>
          <p:cNvSpPr/>
          <p:nvPr/>
        </p:nvSpPr>
        <p:spPr>
          <a:xfrm>
            <a:off x="7575804" y="8659368"/>
            <a:ext cx="1920240" cy="685800"/>
          </a:xfrm>
          <a:prstGeom prst="rect">
            <a:avLst/>
          </a:prstGeom>
          <a:noFill/>
          <a:ln/>
        </p:spPr>
        <p:txBody>
          <a:bodyPr wrap="square" rtlCol="0" anchor="ctr"/>
          <a:lstStyle/>
          <a:p>
            <a:pPr algn="ctr" indent="0" marL="0">
              <a:buNone/>
            </a:pPr>
            <a:r>
              <a:rPr lang="en-US" sz="1350" b="1" dirty="0">
                <a:solidFill>
                  <a:srgbClr val="166534"/>
                </a:solidFill>
                <a:latin typeface="Calibri" pitchFamily="34" charset="0"/>
                <a:ea typeface="Calibri" pitchFamily="34" charset="-122"/>
                <a:cs typeface="Calibri" pitchFamily="34" charset="-120"/>
              </a:rPr>
              <a:t>Calibrated</a:t>
            </a:r>
            <a:endParaRPr lang="en-US" sz="1350" dirty="0"/>
          </a:p>
          <a:p>
            <a:pPr algn="ctr" indent="0" marL="0">
              <a:buNone/>
            </a:pPr>
            <a:r>
              <a:rPr lang="en-US" sz="1350" b="1" dirty="0">
                <a:solidFill>
                  <a:srgbClr val="166534"/>
                </a:solidFill>
                <a:latin typeface="Calibri" pitchFamily="34" charset="0"/>
                <a:ea typeface="Calibri" pitchFamily="34" charset="-122"/>
                <a:cs typeface="Calibri" pitchFamily="34" charset="-120"/>
              </a:rPr>
              <a:t>Output</a:t>
            </a:r>
            <a:endParaRPr lang="en-US" sz="1350" dirty="0"/>
          </a:p>
        </p:txBody>
      </p:sp>
      <p:sp>
        <p:nvSpPr>
          <p:cNvPr id="40" name="Text 38"/>
          <p:cNvSpPr/>
          <p:nvPr/>
        </p:nvSpPr>
        <p:spPr>
          <a:xfrm>
            <a:off x="7575804" y="9372600"/>
            <a:ext cx="1920240" cy="530352"/>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ECE ↓87%</a:t>
            </a:r>
            <a:endParaRPr lang="en-US" sz="1100" dirty="0"/>
          </a:p>
          <a:p>
            <a:pPr algn="ctr" indent="0" marL="0">
              <a:buNone/>
            </a:pPr>
            <a:r>
              <a:rPr lang="en-US" sz="1100" dirty="0">
                <a:solidFill>
                  <a:srgbClr val="555555"/>
                </a:solidFill>
                <a:latin typeface="Calibri" pitchFamily="34" charset="0"/>
                <a:ea typeface="Calibri" pitchFamily="34" charset="-122"/>
                <a:cs typeface="Calibri" pitchFamily="34" charset="-120"/>
              </a:rPr>
              <a:t>T=1.282</a:t>
            </a:r>
            <a:endParaRPr lang="en-US" sz="1100" dirty="0"/>
          </a:p>
        </p:txBody>
      </p:sp>
      <p:sp>
        <p:nvSpPr>
          <p:cNvPr id="41" name="Shape 39"/>
          <p:cNvSpPr/>
          <p:nvPr/>
        </p:nvSpPr>
        <p:spPr>
          <a:xfrm>
            <a:off x="347472" y="12271248"/>
            <a:ext cx="9573768" cy="0"/>
          </a:xfrm>
          <a:prstGeom prst="line">
            <a:avLst/>
          </a:prstGeom>
          <a:noFill/>
          <a:ln w="9525">
            <a:solidFill>
              <a:srgbClr val="CCCCCC"/>
            </a:solidFill>
            <a:prstDash val="solid"/>
          </a:ln>
        </p:spPr>
      </p:sp>
      <p:sp>
        <p:nvSpPr>
          <p:cNvPr id="42" name="Shape 40"/>
          <p:cNvSpPr/>
          <p:nvPr/>
        </p:nvSpPr>
        <p:spPr>
          <a:xfrm>
            <a:off x="347472" y="12435840"/>
            <a:ext cx="9573768" cy="493776"/>
          </a:xfrm>
          <a:prstGeom prst="rect">
            <a:avLst/>
          </a:prstGeom>
          <a:solidFill>
            <a:srgbClr val="004B9B"/>
          </a:solidFill>
          <a:ln/>
        </p:spPr>
      </p:sp>
      <p:sp>
        <p:nvSpPr>
          <p:cNvPr id="43" name="Text 41"/>
          <p:cNvSpPr/>
          <p:nvPr/>
        </p:nvSpPr>
        <p:spPr>
          <a:xfrm>
            <a:off x="484632" y="12481560"/>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Dataset: MiniBooNE Particle Identification</a:t>
            </a:r>
            <a:endParaRPr lang="en-US" sz="1400" dirty="0"/>
          </a:p>
        </p:txBody>
      </p:sp>
      <p:sp>
        <p:nvSpPr>
          <p:cNvPr id="44" name="Shape 42"/>
          <p:cNvSpPr/>
          <p:nvPr/>
        </p:nvSpPr>
        <p:spPr>
          <a:xfrm>
            <a:off x="347472" y="13002768"/>
            <a:ext cx="2267712" cy="932688"/>
          </a:xfrm>
          <a:prstGeom prst="roundRect">
            <a:avLst>
              <a:gd name="adj" fmla="val 4902"/>
            </a:avLst>
          </a:prstGeom>
          <a:solidFill>
            <a:srgbClr val="E8EFF8"/>
          </a:solidFill>
          <a:ln w="9525">
            <a:solidFill>
              <a:srgbClr val="004B9B"/>
            </a:solidFill>
            <a:prstDash val="solid"/>
          </a:ln>
        </p:spPr>
      </p:sp>
      <p:sp>
        <p:nvSpPr>
          <p:cNvPr id="45" name="Text 43"/>
          <p:cNvSpPr/>
          <p:nvPr/>
        </p:nvSpPr>
        <p:spPr>
          <a:xfrm>
            <a:off x="347472" y="13039344"/>
            <a:ext cx="2267712" cy="530352"/>
          </a:xfrm>
          <a:prstGeom prst="rect">
            <a:avLst/>
          </a:prstGeom>
          <a:noFill/>
          <a:ln/>
        </p:spPr>
        <p:txBody>
          <a:bodyPr wrap="square" rtlCol="0" anchor="ctr"/>
          <a:lstStyle/>
          <a:p>
            <a:pPr algn="ctr" indent="0" marL="0">
              <a:buNone/>
            </a:pPr>
            <a:r>
              <a:rPr lang="en-US" sz="2300" b="1" dirty="0">
                <a:solidFill>
                  <a:srgbClr val="004B9B"/>
                </a:solidFill>
                <a:latin typeface="Calibri" pitchFamily="34" charset="0"/>
                <a:ea typeface="Calibri" pitchFamily="34" charset="-122"/>
                <a:cs typeface="Calibri" pitchFamily="34" charset="-120"/>
              </a:rPr>
              <a:t>130,064</a:t>
            </a:r>
            <a:endParaRPr lang="en-US" sz="2300" dirty="0"/>
          </a:p>
        </p:txBody>
      </p:sp>
      <p:sp>
        <p:nvSpPr>
          <p:cNvPr id="46" name="Text 44"/>
          <p:cNvSpPr/>
          <p:nvPr/>
        </p:nvSpPr>
        <p:spPr>
          <a:xfrm>
            <a:off x="347472" y="13606272"/>
            <a:ext cx="2267712"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Events</a:t>
            </a:r>
            <a:endParaRPr lang="en-US" sz="1100" dirty="0"/>
          </a:p>
        </p:txBody>
      </p:sp>
      <p:sp>
        <p:nvSpPr>
          <p:cNvPr id="47" name="Shape 45"/>
          <p:cNvSpPr/>
          <p:nvPr/>
        </p:nvSpPr>
        <p:spPr>
          <a:xfrm>
            <a:off x="2752344" y="13002768"/>
            <a:ext cx="2267712" cy="932688"/>
          </a:xfrm>
          <a:prstGeom prst="roundRect">
            <a:avLst>
              <a:gd name="adj" fmla="val 4902"/>
            </a:avLst>
          </a:prstGeom>
          <a:solidFill>
            <a:srgbClr val="E8EFF8"/>
          </a:solidFill>
          <a:ln w="9525">
            <a:solidFill>
              <a:srgbClr val="004B9B"/>
            </a:solidFill>
            <a:prstDash val="solid"/>
          </a:ln>
        </p:spPr>
      </p:sp>
      <p:sp>
        <p:nvSpPr>
          <p:cNvPr id="48" name="Text 46"/>
          <p:cNvSpPr/>
          <p:nvPr/>
        </p:nvSpPr>
        <p:spPr>
          <a:xfrm>
            <a:off x="2752344" y="13039344"/>
            <a:ext cx="2267712" cy="530352"/>
          </a:xfrm>
          <a:prstGeom prst="rect">
            <a:avLst/>
          </a:prstGeom>
          <a:noFill/>
          <a:ln/>
        </p:spPr>
        <p:txBody>
          <a:bodyPr wrap="square" rtlCol="0" anchor="ctr"/>
          <a:lstStyle/>
          <a:p>
            <a:pPr algn="ctr" indent="0" marL="0">
              <a:buNone/>
            </a:pPr>
            <a:r>
              <a:rPr lang="en-US" sz="2300" b="1" dirty="0">
                <a:solidFill>
                  <a:srgbClr val="004B9B"/>
                </a:solidFill>
                <a:latin typeface="Calibri" pitchFamily="34" charset="0"/>
                <a:ea typeface="Calibri" pitchFamily="34" charset="-122"/>
                <a:cs typeface="Calibri" pitchFamily="34" charset="-120"/>
              </a:rPr>
              <a:t>50</a:t>
            </a:r>
            <a:endParaRPr lang="en-US" sz="2300" dirty="0"/>
          </a:p>
        </p:txBody>
      </p:sp>
      <p:sp>
        <p:nvSpPr>
          <p:cNvPr id="49" name="Text 47"/>
          <p:cNvSpPr/>
          <p:nvPr/>
        </p:nvSpPr>
        <p:spPr>
          <a:xfrm>
            <a:off x="2752344" y="13606272"/>
            <a:ext cx="2267712"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Features</a:t>
            </a:r>
            <a:endParaRPr lang="en-US" sz="1100" dirty="0"/>
          </a:p>
        </p:txBody>
      </p:sp>
      <p:sp>
        <p:nvSpPr>
          <p:cNvPr id="50" name="Shape 48"/>
          <p:cNvSpPr/>
          <p:nvPr/>
        </p:nvSpPr>
        <p:spPr>
          <a:xfrm>
            <a:off x="5157216" y="13002768"/>
            <a:ext cx="2267712" cy="932688"/>
          </a:xfrm>
          <a:prstGeom prst="roundRect">
            <a:avLst>
              <a:gd name="adj" fmla="val 4902"/>
            </a:avLst>
          </a:prstGeom>
          <a:solidFill>
            <a:srgbClr val="E8EFF8"/>
          </a:solidFill>
          <a:ln w="9525">
            <a:solidFill>
              <a:srgbClr val="004B9B"/>
            </a:solidFill>
            <a:prstDash val="solid"/>
          </a:ln>
        </p:spPr>
      </p:sp>
      <p:sp>
        <p:nvSpPr>
          <p:cNvPr id="51" name="Text 49"/>
          <p:cNvSpPr/>
          <p:nvPr/>
        </p:nvSpPr>
        <p:spPr>
          <a:xfrm>
            <a:off x="5157216" y="13039344"/>
            <a:ext cx="2267712" cy="530352"/>
          </a:xfrm>
          <a:prstGeom prst="rect">
            <a:avLst/>
          </a:prstGeom>
          <a:noFill/>
          <a:ln/>
        </p:spPr>
        <p:txBody>
          <a:bodyPr wrap="square" rtlCol="0" anchor="ctr"/>
          <a:lstStyle/>
          <a:p>
            <a:pPr algn="ctr" indent="0" marL="0">
              <a:buNone/>
            </a:pPr>
            <a:r>
              <a:rPr lang="en-US" sz="2300" b="1" dirty="0">
                <a:solidFill>
                  <a:srgbClr val="004B9B"/>
                </a:solidFill>
                <a:latin typeface="Calibri" pitchFamily="34" charset="0"/>
                <a:ea typeface="Calibri" pitchFamily="34" charset="-122"/>
                <a:cs typeface="Calibri" pitchFamily="34" charset="-120"/>
              </a:rPr>
              <a:t>28%</a:t>
            </a:r>
            <a:endParaRPr lang="en-US" sz="2300" dirty="0"/>
          </a:p>
        </p:txBody>
      </p:sp>
      <p:sp>
        <p:nvSpPr>
          <p:cNvPr id="52" name="Text 50"/>
          <p:cNvSpPr/>
          <p:nvPr/>
        </p:nvSpPr>
        <p:spPr>
          <a:xfrm>
            <a:off x="5157216" y="13606272"/>
            <a:ext cx="2267712"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Signal νₑ</a:t>
            </a:r>
            <a:endParaRPr lang="en-US" sz="1100" dirty="0"/>
          </a:p>
        </p:txBody>
      </p:sp>
      <p:sp>
        <p:nvSpPr>
          <p:cNvPr id="53" name="Shape 51"/>
          <p:cNvSpPr/>
          <p:nvPr/>
        </p:nvSpPr>
        <p:spPr>
          <a:xfrm>
            <a:off x="7562088" y="13002768"/>
            <a:ext cx="2267712" cy="932688"/>
          </a:xfrm>
          <a:prstGeom prst="roundRect">
            <a:avLst>
              <a:gd name="adj" fmla="val 4902"/>
            </a:avLst>
          </a:prstGeom>
          <a:solidFill>
            <a:srgbClr val="E8EFF8"/>
          </a:solidFill>
          <a:ln w="9525">
            <a:solidFill>
              <a:srgbClr val="004B9B"/>
            </a:solidFill>
            <a:prstDash val="solid"/>
          </a:ln>
        </p:spPr>
      </p:sp>
      <p:sp>
        <p:nvSpPr>
          <p:cNvPr id="54" name="Text 52"/>
          <p:cNvSpPr/>
          <p:nvPr/>
        </p:nvSpPr>
        <p:spPr>
          <a:xfrm>
            <a:off x="7562088" y="13039344"/>
            <a:ext cx="2267712" cy="530352"/>
          </a:xfrm>
          <a:prstGeom prst="rect">
            <a:avLst/>
          </a:prstGeom>
          <a:noFill/>
          <a:ln/>
        </p:spPr>
        <p:txBody>
          <a:bodyPr wrap="square" rtlCol="0" anchor="ctr"/>
          <a:lstStyle/>
          <a:p>
            <a:pPr algn="ctr" indent="0" marL="0">
              <a:buNone/>
            </a:pPr>
            <a:r>
              <a:rPr lang="en-US" sz="2300" b="1" dirty="0">
                <a:solidFill>
                  <a:srgbClr val="004B9B"/>
                </a:solidFill>
                <a:latin typeface="Calibri" pitchFamily="34" charset="0"/>
                <a:ea typeface="Calibri" pitchFamily="34" charset="-122"/>
                <a:cs typeface="Calibri" pitchFamily="34" charset="-120"/>
              </a:rPr>
              <a:t>92.3%</a:t>
            </a:r>
            <a:endParaRPr lang="en-US" sz="2300" dirty="0"/>
          </a:p>
        </p:txBody>
      </p:sp>
      <p:sp>
        <p:nvSpPr>
          <p:cNvPr id="55" name="Text 53"/>
          <p:cNvSpPr/>
          <p:nvPr/>
        </p:nvSpPr>
        <p:spPr>
          <a:xfrm>
            <a:off x="7562088" y="13606272"/>
            <a:ext cx="2267712"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Bal. Acc.</a:t>
            </a:r>
            <a:endParaRPr lang="en-US" sz="1100" dirty="0"/>
          </a:p>
        </p:txBody>
      </p:sp>
      <p:graphicFrame>
        <p:nvGraphicFramePr>
          <p:cNvPr id="56" name="Chart 0" descr=""/>
          <p:cNvGraphicFramePr/>
          <p:nvPr/>
        </p:nvGraphicFramePr>
        <p:xfrm>
          <a:off x="347472" y="14081760"/>
          <a:ext cx="9573768" cy="4114800"/>
        </p:xfrm>
        <a:graphic xmlns:a="http://schemas.openxmlformats.org/drawingml/2006/main">
          <a:graphicData uri="http://schemas.openxmlformats.org/drawingml/2006/chart">
            <c:chart xmlns:c="http://schemas.openxmlformats.org/drawingml/2006/chart" r:id="rId1"/>
          </a:graphicData>
        </a:graphic>
      </p:graphicFrame>
      <p:sp>
        <p:nvSpPr>
          <p:cNvPr id="57" name="Text 54"/>
          <p:cNvSpPr/>
          <p:nvPr/>
        </p:nvSpPr>
        <p:spPr>
          <a:xfrm>
            <a:off x="347472" y="18288000"/>
            <a:ext cx="9573768" cy="530352"/>
          </a:xfrm>
          <a:prstGeom prst="rect">
            <a:avLst/>
          </a:prstGeom>
          <a:noFill/>
          <a:ln/>
        </p:spPr>
        <p:txBody>
          <a:bodyPr wrap="square" lIns="25400" tIns="25400" rIns="25400" bIns="25400" rtlCol="0" anchor="ctr"/>
          <a:lstStyle/>
          <a:p>
            <a:pPr indent="0" marL="0">
              <a:buNone/>
            </a:pPr>
            <a:r>
              <a:rPr lang="en-US" sz="1250" b="1" dirty="0">
                <a:solidFill>
                  <a:srgbClr val="004B9B"/>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Fermilab MiniBooNE: νμ beam → 800t mineral oil → Cherenkov rings → 1,520 PMTs.</a:t>
            </a:r>
            <a:endParaRPr lang="en-US" sz="1250" dirty="0"/>
          </a:p>
        </p:txBody>
      </p:sp>
      <p:sp>
        <p:nvSpPr>
          <p:cNvPr id="58" name="Text 55"/>
          <p:cNvSpPr/>
          <p:nvPr/>
        </p:nvSpPr>
        <p:spPr>
          <a:xfrm>
            <a:off x="347472" y="18836640"/>
            <a:ext cx="9573768" cy="530352"/>
          </a:xfrm>
          <a:prstGeom prst="rect">
            <a:avLst/>
          </a:prstGeom>
          <a:noFill/>
          <a:ln/>
        </p:spPr>
        <p:txBody>
          <a:bodyPr wrap="square" lIns="25400" tIns="25400" rIns="25400" bIns="25400" rtlCol="0" anchor="ctr"/>
          <a:lstStyle/>
          <a:p>
            <a:pPr indent="0" marL="0">
              <a:buNone/>
            </a:pPr>
            <a:r>
              <a:rPr lang="en-US" sz="1250" b="1" dirty="0">
                <a:solidFill>
                  <a:srgbClr val="004B9B"/>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50 continuous kinematic features F01–F50. No categorical variables.</a:t>
            </a:r>
            <a:endParaRPr lang="en-US" sz="1250" dirty="0"/>
          </a:p>
        </p:txBody>
      </p:sp>
      <p:sp>
        <p:nvSpPr>
          <p:cNvPr id="59" name="Text 56"/>
          <p:cNvSpPr/>
          <p:nvPr/>
        </p:nvSpPr>
        <p:spPr>
          <a:xfrm>
            <a:off x="347472" y="19385280"/>
            <a:ext cx="9573768" cy="530352"/>
          </a:xfrm>
          <a:prstGeom prst="rect">
            <a:avLst/>
          </a:prstGeom>
          <a:noFill/>
          <a:ln/>
        </p:spPr>
        <p:txBody>
          <a:bodyPr wrap="square" lIns="25400" tIns="25400" rIns="25400" bIns="25400" rtlCol="0" anchor="ctr"/>
          <a:lstStyle/>
          <a:p>
            <a:pPr indent="0" marL="0">
              <a:buNone/>
            </a:pPr>
            <a:r>
              <a:rPr lang="en-US" sz="1250" b="1" dirty="0">
                <a:solidFill>
                  <a:srgbClr val="004B9B"/>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OOD set: σ=3.0 Gaussian noise on standardised features (synthetic, acknowledged limitation).</a:t>
            </a:r>
            <a:endParaRPr lang="en-US" sz="1250" dirty="0"/>
          </a:p>
        </p:txBody>
      </p:sp>
      <p:sp>
        <p:nvSpPr>
          <p:cNvPr id="60" name="Shape 57"/>
          <p:cNvSpPr/>
          <p:nvPr/>
        </p:nvSpPr>
        <p:spPr>
          <a:xfrm>
            <a:off x="347472" y="20025360"/>
            <a:ext cx="9573768" cy="0"/>
          </a:xfrm>
          <a:prstGeom prst="line">
            <a:avLst/>
          </a:prstGeom>
          <a:noFill/>
          <a:ln w="9525">
            <a:solidFill>
              <a:srgbClr val="CCCCCC"/>
            </a:solidFill>
            <a:prstDash val="solid"/>
          </a:ln>
        </p:spPr>
      </p:sp>
      <p:sp>
        <p:nvSpPr>
          <p:cNvPr id="61" name="Shape 58"/>
          <p:cNvSpPr/>
          <p:nvPr/>
        </p:nvSpPr>
        <p:spPr>
          <a:xfrm>
            <a:off x="347472" y="20189952"/>
            <a:ext cx="9573768" cy="493776"/>
          </a:xfrm>
          <a:prstGeom prst="rect">
            <a:avLst/>
          </a:prstGeom>
          <a:solidFill>
            <a:srgbClr val="004B9B"/>
          </a:solidFill>
          <a:ln/>
        </p:spPr>
      </p:sp>
      <p:sp>
        <p:nvSpPr>
          <p:cNvPr id="62" name="Text 59"/>
          <p:cNvSpPr/>
          <p:nvPr/>
        </p:nvSpPr>
        <p:spPr>
          <a:xfrm>
            <a:off x="484632" y="20235672"/>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Code &amp; Reproducibility</a:t>
            </a:r>
            <a:endParaRPr lang="en-US" sz="1400" dirty="0"/>
          </a:p>
        </p:txBody>
      </p:sp>
      <p:pic>
        <p:nvPicPr>
          <p:cNvPr id="63" name="Image 0" descr="/sessions/peaceful-trusting-cerf/mnt/Transformers/qr_code.png"/>
          <p:cNvPicPr>
            <a:picLocks noChangeAspect="1"/>
          </p:cNvPicPr>
          <p:nvPr/>
        </p:nvPicPr>
        <p:blipFill>
          <a:blip r:embed="rId2"/>
          <a:stretch>
            <a:fillRect/>
          </a:stretch>
        </p:blipFill>
        <p:spPr>
          <a:xfrm>
            <a:off x="484632" y="20756880"/>
            <a:ext cx="1920240" cy="1920240"/>
          </a:xfrm>
          <a:prstGeom prst="rect">
            <a:avLst/>
          </a:prstGeom>
        </p:spPr>
      </p:pic>
      <p:sp>
        <p:nvSpPr>
          <p:cNvPr id="64" name="Text 60"/>
          <p:cNvSpPr/>
          <p:nvPr/>
        </p:nvSpPr>
        <p:spPr>
          <a:xfrm>
            <a:off x="2542032" y="20894040"/>
            <a:ext cx="7287768" cy="731520"/>
          </a:xfrm>
          <a:prstGeom prst="rect">
            <a:avLst/>
          </a:prstGeom>
          <a:noFill/>
          <a:ln/>
        </p:spPr>
        <p:txBody>
          <a:bodyPr wrap="square" rtlCol="0" anchor="ctr"/>
          <a:lstStyle/>
          <a:p>
            <a:pPr indent="0" marL="0">
              <a:buNone/>
            </a:pPr>
            <a:r>
              <a:rPr lang="en-US" sz="1300" b="1" dirty="0">
                <a:solidFill>
                  <a:srgbClr val="004B9B"/>
                </a:solidFill>
                <a:latin typeface="Calibri" pitchFamily="34" charset="0"/>
                <a:ea typeface="Calibri" pitchFamily="34" charset="-122"/>
                <a:cs typeface="Calibri" pitchFamily="34" charset="-120"/>
              </a:rPr>
              <a:t>github.com/nadaibrahim-png/</a:t>
            </a:r>
            <a:endParaRPr lang="en-US" sz="1300" dirty="0"/>
          </a:p>
          <a:p>
            <a:pPr indent="0" marL="0">
              <a:buNone/>
            </a:pPr>
            <a:r>
              <a:rPr lang="en-US" sz="1300" b="1" dirty="0">
                <a:solidFill>
                  <a:srgbClr val="004B9B"/>
                </a:solidFill>
                <a:latin typeface="Calibri" pitchFamily="34" charset="0"/>
                <a:ea typeface="Calibri" pitchFamily="34" charset="-122"/>
                <a:cs typeface="Calibri" pitchFamily="34" charset="-120"/>
              </a:rPr>
              <a:t>Transformers_UQ</a:t>
            </a:r>
            <a:endParaRPr lang="en-US" sz="1300" dirty="0"/>
          </a:p>
        </p:txBody>
      </p:sp>
      <p:sp>
        <p:nvSpPr>
          <p:cNvPr id="65" name="Text 61"/>
          <p:cNvSpPr/>
          <p:nvPr/>
        </p:nvSpPr>
        <p:spPr>
          <a:xfrm>
            <a:off x="2542032" y="21671280"/>
            <a:ext cx="7287768" cy="731520"/>
          </a:xfrm>
          <a:prstGeom prst="rect">
            <a:avLst/>
          </a:prstGeom>
          <a:noFill/>
          <a:ln/>
        </p:spPr>
        <p:txBody>
          <a:bodyPr wrap="square" rtlCol="0" anchor="ctr"/>
          <a:lstStyle/>
          <a:p>
            <a:pPr indent="0" marL="0">
              <a:buNone/>
            </a:pPr>
            <a:r>
              <a:rPr lang="en-US" sz="1150" dirty="0">
                <a:solidFill>
                  <a:srgbClr val="555555"/>
                </a:solidFill>
                <a:latin typeface="Calibri" pitchFamily="34" charset="0"/>
                <a:ea typeface="Calibri" pitchFamily="34" charset="-122"/>
                <a:cs typeface="Calibri" pitchFamily="34" charset="-120"/>
              </a:rPr>
              <a:t>Full code · Colab notebook · Pre-trained weights · All figures reproducible</a:t>
            </a:r>
            <a:endParaRPr lang="en-US" sz="1150" dirty="0"/>
          </a:p>
        </p:txBody>
      </p:sp>
      <p:sp>
        <p:nvSpPr>
          <p:cNvPr id="66" name="Shape 62"/>
          <p:cNvSpPr/>
          <p:nvPr/>
        </p:nvSpPr>
        <p:spPr>
          <a:xfrm>
            <a:off x="347472" y="22841712"/>
            <a:ext cx="9573768" cy="0"/>
          </a:xfrm>
          <a:prstGeom prst="line">
            <a:avLst/>
          </a:prstGeom>
          <a:noFill/>
          <a:ln w="9525">
            <a:solidFill>
              <a:srgbClr val="CCCCCC"/>
            </a:solidFill>
            <a:prstDash val="solid"/>
          </a:ln>
        </p:spPr>
      </p:sp>
      <p:sp>
        <p:nvSpPr>
          <p:cNvPr id="67" name="Shape 63"/>
          <p:cNvSpPr/>
          <p:nvPr/>
        </p:nvSpPr>
        <p:spPr>
          <a:xfrm>
            <a:off x="347472" y="23006304"/>
            <a:ext cx="9573768" cy="493776"/>
          </a:xfrm>
          <a:prstGeom prst="rect">
            <a:avLst/>
          </a:prstGeom>
          <a:solidFill>
            <a:srgbClr val="555555"/>
          </a:solidFill>
          <a:ln/>
        </p:spPr>
      </p:sp>
      <p:sp>
        <p:nvSpPr>
          <p:cNvPr id="68" name="Text 64"/>
          <p:cNvSpPr/>
          <p:nvPr/>
        </p:nvSpPr>
        <p:spPr>
          <a:xfrm>
            <a:off x="484632" y="23052024"/>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Acknowledgements</a:t>
            </a:r>
            <a:endParaRPr lang="en-US" sz="1400" dirty="0"/>
          </a:p>
        </p:txBody>
      </p:sp>
      <p:sp>
        <p:nvSpPr>
          <p:cNvPr id="69" name="Text 65"/>
          <p:cNvSpPr/>
          <p:nvPr/>
        </p:nvSpPr>
        <p:spPr>
          <a:xfrm>
            <a:off x="347472" y="23536656"/>
            <a:ext cx="9573768" cy="1097280"/>
          </a:xfrm>
          <a:prstGeom prst="rect">
            <a:avLst/>
          </a:prstGeom>
          <a:noFill/>
          <a:ln/>
        </p:spPr>
        <p:txBody>
          <a:bodyPr wrap="square" lIns="38100" tIns="38100" rIns="38100" bIns="38100" rtlCol="0" anchor="t"/>
          <a:lstStyle/>
          <a:p>
            <a:pPr indent="0" marL="0">
              <a:buNone/>
            </a:pPr>
            <a:r>
              <a:rPr lang="en-US" sz="1150" dirty="0">
                <a:solidFill>
                  <a:srgbClr val="555555"/>
                </a:solidFill>
                <a:latin typeface="Calibri" pitchFamily="34" charset="0"/>
                <a:ea typeface="Calibri" pitchFamily="34" charset="-122"/>
                <a:cs typeface="Calibri" pitchFamily="34" charset="-120"/>
              </a:rPr>
              <a:t>This work was supported by the Italian Ministry of Foreign Affairs and International Cooperation (MAECI) through a scholarship for international students, and by the Erasmus+ Programme of the European Union. The author thanks the University of Messina and ICTP Trieste for hosting this research. Special thanks to Prof. Dario Bruneo for his guidance throughout this work.</a:t>
            </a:r>
            <a:endParaRPr lang="en-US" sz="1150" dirty="0"/>
          </a:p>
        </p:txBody>
      </p:sp>
      <p:sp>
        <p:nvSpPr>
          <p:cNvPr id="70" name="Shape 66"/>
          <p:cNvSpPr/>
          <p:nvPr/>
        </p:nvSpPr>
        <p:spPr>
          <a:xfrm>
            <a:off x="10250424" y="4251960"/>
            <a:ext cx="9573768" cy="493776"/>
          </a:xfrm>
          <a:prstGeom prst="rect">
            <a:avLst/>
          </a:prstGeom>
          <a:solidFill>
            <a:srgbClr val="004B9B"/>
          </a:solidFill>
          <a:ln/>
        </p:spPr>
      </p:sp>
      <p:sp>
        <p:nvSpPr>
          <p:cNvPr id="71" name="Text 67"/>
          <p:cNvSpPr/>
          <p:nvPr/>
        </p:nvSpPr>
        <p:spPr>
          <a:xfrm>
            <a:off x="10387584" y="4297680"/>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② Methodology</a:t>
            </a:r>
            <a:endParaRPr lang="en-US" sz="1400" dirty="0"/>
          </a:p>
        </p:txBody>
      </p:sp>
      <p:sp>
        <p:nvSpPr>
          <p:cNvPr id="72" name="Text 68"/>
          <p:cNvSpPr/>
          <p:nvPr/>
        </p:nvSpPr>
        <p:spPr>
          <a:xfrm>
            <a:off x="10250424" y="4818888"/>
            <a:ext cx="9573768" cy="384048"/>
          </a:xfrm>
          <a:prstGeom prst="rect">
            <a:avLst/>
          </a:prstGeom>
          <a:noFill/>
          <a:ln/>
        </p:spPr>
        <p:txBody>
          <a:bodyPr wrap="square" lIns="38100" tIns="38100" rIns="38100" bIns="38100" rtlCol="0" anchor="t"/>
          <a:lstStyle/>
          <a:p>
            <a:pPr algn="l" indent="0" marL="0">
              <a:buNone/>
            </a:pPr>
            <a:r>
              <a:rPr lang="en-US" sz="1300" b="1" dirty="0">
                <a:solidFill>
                  <a:srgbClr val="002D6B"/>
                </a:solidFill>
                <a:latin typeface="Calibri" pitchFamily="34" charset="0"/>
                <a:ea typeface="Calibri" pitchFamily="34" charset="-122"/>
                <a:cs typeface="Calibri" pitchFamily="34" charset="-120"/>
              </a:rPr>
              <a:t>A.  FT-Transformer Architecture</a:t>
            </a:r>
            <a:endParaRPr lang="en-US" sz="1300" dirty="0"/>
          </a:p>
        </p:txBody>
      </p:sp>
      <p:sp>
        <p:nvSpPr>
          <p:cNvPr id="73" name="Shape 69"/>
          <p:cNvSpPr/>
          <p:nvPr/>
        </p:nvSpPr>
        <p:spPr>
          <a:xfrm>
            <a:off x="10433304" y="5276088"/>
            <a:ext cx="9208008" cy="804672"/>
          </a:xfrm>
          <a:prstGeom prst="roundRect">
            <a:avLst>
              <a:gd name="adj" fmla="val 6818"/>
            </a:avLst>
          </a:prstGeom>
          <a:solidFill>
            <a:srgbClr val="E8EFF8"/>
          </a:solidFill>
          <a:ln w="9525">
            <a:solidFill>
              <a:srgbClr val="004B9B"/>
            </a:solidFill>
            <a:prstDash val="solid"/>
          </a:ln>
        </p:spPr>
      </p:sp>
      <p:sp>
        <p:nvSpPr>
          <p:cNvPr id="74" name="Text 70"/>
          <p:cNvSpPr/>
          <p:nvPr/>
        </p:nvSpPr>
        <p:spPr>
          <a:xfrm>
            <a:off x="10561320" y="5276088"/>
            <a:ext cx="8951976" cy="804672"/>
          </a:xfrm>
          <a:prstGeom prst="rect">
            <a:avLst/>
          </a:prstGeom>
          <a:noFill/>
          <a:ln/>
        </p:spPr>
        <p:txBody>
          <a:bodyPr wrap="square" rtlCol="0" anchor="ctr"/>
          <a:lstStyle/>
          <a:p>
            <a:pPr algn="ctr" indent="0" marL="0">
              <a:buNone/>
            </a:pPr>
            <a:r>
              <a:rPr lang="en-US" sz="1200" b="1" dirty="0">
                <a:solidFill>
                  <a:srgbClr val="002D6B"/>
                </a:solidFill>
                <a:latin typeface="Calibri" pitchFamily="34" charset="0"/>
                <a:ea typeface="Calibri" pitchFamily="34" charset="-122"/>
                <a:cs typeface="Calibri" pitchFamily="34" charset="-120"/>
              </a:rPr>
              <a:t xml:space="preserve">Input: </a:t>
            </a:r>
            <a:pPr algn="ctr" indent="0" marL="0">
              <a:buNone/>
            </a:pPr>
            <a:r>
              <a:rPr lang="en-US" sz="1200" dirty="0">
                <a:solidFill>
                  <a:srgbClr val="111111"/>
                </a:solidFill>
                <a:latin typeface="Calibri" pitchFamily="34" charset="0"/>
                <a:ea typeface="Calibri" pitchFamily="34" charset="-122"/>
                <a:cs typeface="Calibri" pitchFamily="34" charset="-120"/>
              </a:rPr>
              <a:t>50 continuous kinematic features   x₁ x₂ ··· x₅₀ ∈ ℝ</a:t>
            </a:r>
            <a:endParaRPr lang="en-US" sz="1200" dirty="0"/>
          </a:p>
        </p:txBody>
      </p:sp>
      <p:sp>
        <p:nvSpPr>
          <p:cNvPr id="75" name="Shape 71"/>
          <p:cNvSpPr/>
          <p:nvPr/>
        </p:nvSpPr>
        <p:spPr>
          <a:xfrm>
            <a:off x="15037308" y="6080760"/>
            <a:ext cx="0" cy="256032"/>
          </a:xfrm>
          <a:prstGeom prst="line">
            <a:avLst/>
          </a:prstGeom>
          <a:noFill/>
          <a:ln w="27940">
            <a:solidFill>
              <a:srgbClr val="007A78"/>
            </a:solidFill>
            <a:prstDash val="solid"/>
            <a:tailEnd type="triangle"/>
          </a:ln>
        </p:spPr>
      </p:sp>
      <p:sp>
        <p:nvSpPr>
          <p:cNvPr id="76" name="Shape 72"/>
          <p:cNvSpPr/>
          <p:nvPr/>
        </p:nvSpPr>
        <p:spPr>
          <a:xfrm>
            <a:off x="10433304" y="6336792"/>
            <a:ext cx="9208008" cy="2788920"/>
          </a:xfrm>
          <a:prstGeom prst="roundRect">
            <a:avLst>
              <a:gd name="adj" fmla="val 1967"/>
            </a:avLst>
          </a:prstGeom>
          <a:solidFill>
            <a:srgbClr val="EEF5FF"/>
          </a:solidFill>
          <a:ln w="9525">
            <a:solidFill>
              <a:srgbClr val="004B9B"/>
            </a:solidFill>
            <a:prstDash val="solid"/>
          </a:ln>
        </p:spPr>
      </p:sp>
      <p:sp>
        <p:nvSpPr>
          <p:cNvPr id="77" name="Text 73"/>
          <p:cNvSpPr/>
          <p:nvPr/>
        </p:nvSpPr>
        <p:spPr>
          <a:xfrm>
            <a:off x="10561320" y="6409944"/>
            <a:ext cx="8951976" cy="402336"/>
          </a:xfrm>
          <a:prstGeom prst="rect">
            <a:avLst/>
          </a:prstGeom>
          <a:noFill/>
          <a:ln/>
        </p:spPr>
        <p:txBody>
          <a:bodyPr wrap="square" rtlCol="0" anchor="ctr"/>
          <a:lstStyle/>
          <a:p>
            <a:pPr algn="ctr" indent="0" marL="0">
              <a:buNone/>
            </a:pPr>
            <a:r>
              <a:rPr lang="en-US" sz="1300" b="1" dirty="0">
                <a:solidFill>
                  <a:srgbClr val="004B9B"/>
                </a:solidFill>
                <a:latin typeface="Calibri" pitchFamily="34" charset="0"/>
                <a:ea typeface="Calibri" pitchFamily="34" charset="-122"/>
                <a:cs typeface="Calibri" pitchFamily="34" charset="-120"/>
              </a:rPr>
              <a:t>Feature Tokenizer</a:t>
            </a:r>
            <a:endParaRPr lang="en-US" sz="1300" dirty="0"/>
          </a:p>
        </p:txBody>
      </p:sp>
      <p:sp>
        <p:nvSpPr>
          <p:cNvPr id="78" name="Text 74"/>
          <p:cNvSpPr/>
          <p:nvPr/>
        </p:nvSpPr>
        <p:spPr>
          <a:xfrm>
            <a:off x="10561320" y="6812280"/>
            <a:ext cx="8951976" cy="329184"/>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50 independent Linear(1 → 64) — one per feature, NOT shared</a:t>
            </a:r>
            <a:endParaRPr lang="en-US" sz="1100" dirty="0"/>
          </a:p>
        </p:txBody>
      </p:sp>
      <p:sp>
        <p:nvSpPr>
          <p:cNvPr id="79" name="Shape 75"/>
          <p:cNvSpPr/>
          <p:nvPr/>
        </p:nvSpPr>
        <p:spPr>
          <a:xfrm>
            <a:off x="10597896" y="7232904"/>
            <a:ext cx="1389888" cy="621792"/>
          </a:xfrm>
          <a:prstGeom prst="roundRect">
            <a:avLst>
              <a:gd name="adj" fmla="val 5882"/>
            </a:avLst>
          </a:prstGeom>
          <a:solidFill>
            <a:srgbClr val="004B9B"/>
          </a:solidFill>
          <a:ln/>
        </p:spPr>
      </p:sp>
      <p:sp>
        <p:nvSpPr>
          <p:cNvPr id="80" name="Text 76"/>
          <p:cNvSpPr/>
          <p:nvPr/>
        </p:nvSpPr>
        <p:spPr>
          <a:xfrm>
            <a:off x="10597896" y="7232904"/>
            <a:ext cx="1389888"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W₁</a:t>
            </a:r>
            <a:endParaRPr lang="en-US" sz="1300" dirty="0"/>
          </a:p>
        </p:txBody>
      </p:sp>
      <p:sp>
        <p:nvSpPr>
          <p:cNvPr id="81" name="Shape 77"/>
          <p:cNvSpPr/>
          <p:nvPr/>
        </p:nvSpPr>
        <p:spPr>
          <a:xfrm>
            <a:off x="12143232" y="7232904"/>
            <a:ext cx="1389888" cy="621792"/>
          </a:xfrm>
          <a:prstGeom prst="roundRect">
            <a:avLst>
              <a:gd name="adj" fmla="val 5882"/>
            </a:avLst>
          </a:prstGeom>
          <a:solidFill>
            <a:srgbClr val="004B9B"/>
          </a:solidFill>
          <a:ln/>
        </p:spPr>
      </p:sp>
      <p:sp>
        <p:nvSpPr>
          <p:cNvPr id="82" name="Text 78"/>
          <p:cNvSpPr/>
          <p:nvPr/>
        </p:nvSpPr>
        <p:spPr>
          <a:xfrm>
            <a:off x="12143232" y="7232904"/>
            <a:ext cx="1389888"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W₂</a:t>
            </a:r>
            <a:endParaRPr lang="en-US" sz="1300" dirty="0"/>
          </a:p>
        </p:txBody>
      </p:sp>
      <p:sp>
        <p:nvSpPr>
          <p:cNvPr id="83" name="Shape 79"/>
          <p:cNvSpPr/>
          <p:nvPr/>
        </p:nvSpPr>
        <p:spPr>
          <a:xfrm>
            <a:off x="13688568" y="7232904"/>
            <a:ext cx="1389888" cy="621792"/>
          </a:xfrm>
          <a:prstGeom prst="roundRect">
            <a:avLst>
              <a:gd name="adj" fmla="val 5882"/>
            </a:avLst>
          </a:prstGeom>
          <a:solidFill>
            <a:srgbClr val="004B9B"/>
          </a:solidFill>
          <a:ln/>
        </p:spPr>
      </p:sp>
      <p:sp>
        <p:nvSpPr>
          <p:cNvPr id="84" name="Text 80"/>
          <p:cNvSpPr/>
          <p:nvPr/>
        </p:nvSpPr>
        <p:spPr>
          <a:xfrm>
            <a:off x="13688568" y="7232904"/>
            <a:ext cx="1389888"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W₃</a:t>
            </a:r>
            <a:endParaRPr lang="en-US" sz="1300" dirty="0"/>
          </a:p>
        </p:txBody>
      </p:sp>
      <p:sp>
        <p:nvSpPr>
          <p:cNvPr id="85" name="Shape 81"/>
          <p:cNvSpPr/>
          <p:nvPr/>
        </p:nvSpPr>
        <p:spPr>
          <a:xfrm>
            <a:off x="15233904" y="7232904"/>
            <a:ext cx="1389888" cy="621792"/>
          </a:xfrm>
          <a:prstGeom prst="roundRect">
            <a:avLst>
              <a:gd name="adj" fmla="val 5882"/>
            </a:avLst>
          </a:prstGeom>
          <a:solidFill>
            <a:srgbClr val="004B9B"/>
          </a:solidFill>
          <a:ln/>
        </p:spPr>
      </p:sp>
      <p:sp>
        <p:nvSpPr>
          <p:cNvPr id="86" name="Text 82"/>
          <p:cNvSpPr/>
          <p:nvPr/>
        </p:nvSpPr>
        <p:spPr>
          <a:xfrm>
            <a:off x="15233904" y="7232904"/>
            <a:ext cx="1389888"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7" name="Shape 83"/>
          <p:cNvSpPr/>
          <p:nvPr/>
        </p:nvSpPr>
        <p:spPr>
          <a:xfrm>
            <a:off x="16779240" y="7232904"/>
            <a:ext cx="1389888" cy="621792"/>
          </a:xfrm>
          <a:prstGeom prst="roundRect">
            <a:avLst>
              <a:gd name="adj" fmla="val 5882"/>
            </a:avLst>
          </a:prstGeom>
          <a:solidFill>
            <a:srgbClr val="004B9B"/>
          </a:solidFill>
          <a:ln/>
        </p:spPr>
      </p:sp>
      <p:sp>
        <p:nvSpPr>
          <p:cNvPr id="88" name="Text 84"/>
          <p:cNvSpPr/>
          <p:nvPr/>
        </p:nvSpPr>
        <p:spPr>
          <a:xfrm>
            <a:off x="16779240" y="7232904"/>
            <a:ext cx="1389888"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W₄₉</a:t>
            </a:r>
            <a:endParaRPr lang="en-US" sz="1300" dirty="0"/>
          </a:p>
        </p:txBody>
      </p:sp>
      <p:sp>
        <p:nvSpPr>
          <p:cNvPr id="89" name="Shape 85"/>
          <p:cNvSpPr/>
          <p:nvPr/>
        </p:nvSpPr>
        <p:spPr>
          <a:xfrm>
            <a:off x="18324576" y="7232904"/>
            <a:ext cx="1389888" cy="621792"/>
          </a:xfrm>
          <a:prstGeom prst="roundRect">
            <a:avLst>
              <a:gd name="adj" fmla="val 5882"/>
            </a:avLst>
          </a:prstGeom>
          <a:solidFill>
            <a:srgbClr val="004B9B"/>
          </a:solidFill>
          <a:ln/>
        </p:spPr>
      </p:sp>
      <p:sp>
        <p:nvSpPr>
          <p:cNvPr id="90" name="Text 86"/>
          <p:cNvSpPr/>
          <p:nvPr/>
        </p:nvSpPr>
        <p:spPr>
          <a:xfrm>
            <a:off x="18324576" y="7232904"/>
            <a:ext cx="1389888"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W₅₀</a:t>
            </a:r>
            <a:endParaRPr lang="en-US" sz="1300" dirty="0"/>
          </a:p>
        </p:txBody>
      </p:sp>
      <p:sp>
        <p:nvSpPr>
          <p:cNvPr id="91" name="Text 87"/>
          <p:cNvSpPr/>
          <p:nvPr/>
        </p:nvSpPr>
        <p:spPr>
          <a:xfrm>
            <a:off x="10561320" y="7964424"/>
            <a:ext cx="8951976" cy="347472"/>
          </a:xfrm>
          <a:prstGeom prst="rect">
            <a:avLst/>
          </a:prstGeom>
          <a:noFill/>
          <a:ln/>
        </p:spPr>
        <p:txBody>
          <a:bodyPr wrap="square" rtlCol="0" anchor="ctr"/>
          <a:lstStyle/>
          <a:p>
            <a:pPr algn="ctr" indent="0" marL="0">
              <a:buNone/>
            </a:pPr>
            <a:r>
              <a:rPr lang="en-US" sz="1200" i="1" dirty="0">
                <a:solidFill>
                  <a:srgbClr val="002D6B"/>
                </a:solidFill>
                <a:latin typeface="Calibri" pitchFamily="34" charset="0"/>
                <a:ea typeface="Calibri" pitchFamily="34" charset="-122"/>
                <a:cs typeface="Calibri" pitchFamily="34" charset="-120"/>
              </a:rPr>
              <a:t>tᵢ = xᵢ · Wᵢ + bᵢ  ∈  ℝ⁶⁴</a:t>
            </a:r>
            <a:endParaRPr lang="en-US" sz="1200" dirty="0"/>
          </a:p>
        </p:txBody>
      </p:sp>
      <p:sp>
        <p:nvSpPr>
          <p:cNvPr id="92" name="Shape 88"/>
          <p:cNvSpPr/>
          <p:nvPr/>
        </p:nvSpPr>
        <p:spPr>
          <a:xfrm>
            <a:off x="10561320" y="8439912"/>
            <a:ext cx="8951976" cy="475488"/>
          </a:xfrm>
          <a:prstGeom prst="roundRect">
            <a:avLst>
              <a:gd name="adj" fmla="val 7692"/>
            </a:avLst>
          </a:prstGeom>
          <a:solidFill>
            <a:srgbClr val="002D6B"/>
          </a:solidFill>
          <a:ln/>
        </p:spPr>
      </p:sp>
      <p:sp>
        <p:nvSpPr>
          <p:cNvPr id="93" name="Text 89"/>
          <p:cNvSpPr/>
          <p:nvPr/>
        </p:nvSpPr>
        <p:spPr>
          <a:xfrm>
            <a:off x="10561320" y="8439912"/>
            <a:ext cx="8951976"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[CLS]  t₁  t₂  ···  t₅₀  —  51 tokens ∈ ℝ⁶⁴</a:t>
            </a:r>
            <a:endParaRPr lang="en-US" sz="1200" dirty="0"/>
          </a:p>
        </p:txBody>
      </p:sp>
      <p:sp>
        <p:nvSpPr>
          <p:cNvPr id="94" name="Shape 90"/>
          <p:cNvSpPr/>
          <p:nvPr/>
        </p:nvSpPr>
        <p:spPr>
          <a:xfrm>
            <a:off x="15037308" y="9125712"/>
            <a:ext cx="0" cy="256032"/>
          </a:xfrm>
          <a:prstGeom prst="line">
            <a:avLst/>
          </a:prstGeom>
          <a:noFill/>
          <a:ln w="27940">
            <a:solidFill>
              <a:srgbClr val="007A78"/>
            </a:solidFill>
            <a:prstDash val="solid"/>
            <a:tailEnd type="triangle"/>
          </a:ln>
        </p:spPr>
      </p:sp>
      <p:sp>
        <p:nvSpPr>
          <p:cNvPr id="95" name="Shape 91"/>
          <p:cNvSpPr/>
          <p:nvPr/>
        </p:nvSpPr>
        <p:spPr>
          <a:xfrm>
            <a:off x="10433304" y="9381744"/>
            <a:ext cx="9208008" cy="5120640"/>
          </a:xfrm>
          <a:prstGeom prst="roundRect">
            <a:avLst>
              <a:gd name="adj" fmla="val 1250"/>
            </a:avLst>
          </a:prstGeom>
          <a:solidFill>
            <a:srgbClr val="FFFFFF"/>
          </a:solidFill>
          <a:ln w="15240">
            <a:solidFill>
              <a:srgbClr val="004B9B"/>
            </a:solidFill>
            <a:prstDash val="solid"/>
          </a:ln>
        </p:spPr>
      </p:sp>
      <p:sp>
        <p:nvSpPr>
          <p:cNvPr id="96" name="Shape 92"/>
          <p:cNvSpPr/>
          <p:nvPr/>
        </p:nvSpPr>
        <p:spPr>
          <a:xfrm>
            <a:off x="10433304" y="9381744"/>
            <a:ext cx="9208008" cy="475488"/>
          </a:xfrm>
          <a:prstGeom prst="rect">
            <a:avLst/>
          </a:prstGeom>
          <a:solidFill>
            <a:srgbClr val="004B9B"/>
          </a:solidFill>
          <a:ln/>
        </p:spPr>
      </p:sp>
      <p:sp>
        <p:nvSpPr>
          <p:cNvPr id="97" name="Text 93"/>
          <p:cNvSpPr/>
          <p:nvPr/>
        </p:nvSpPr>
        <p:spPr>
          <a:xfrm>
            <a:off x="10561320" y="9381744"/>
            <a:ext cx="7927848" cy="475488"/>
          </a:xfrm>
          <a:prstGeom prst="rect">
            <a:avLst/>
          </a:prstGeom>
          <a:noFill/>
          <a:ln/>
        </p:spPr>
        <p:txBody>
          <a:bodyPr wrap="square"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Transformer Encoder</a:t>
            </a:r>
            <a:endParaRPr lang="en-US" sz="1350" dirty="0"/>
          </a:p>
        </p:txBody>
      </p:sp>
      <p:sp>
        <p:nvSpPr>
          <p:cNvPr id="98" name="Text 94"/>
          <p:cNvSpPr/>
          <p:nvPr/>
        </p:nvSpPr>
        <p:spPr>
          <a:xfrm>
            <a:off x="18406872" y="9381744"/>
            <a:ext cx="1097280" cy="475488"/>
          </a:xfrm>
          <a:prstGeom prst="rect">
            <a:avLst/>
          </a:prstGeom>
          <a:noFill/>
          <a:ln/>
        </p:spPr>
        <p:txBody>
          <a:bodyPr wrap="square"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 2 layers</a:t>
            </a:r>
            <a:endParaRPr lang="en-US" sz="1300" dirty="0"/>
          </a:p>
        </p:txBody>
      </p:sp>
      <p:sp>
        <p:nvSpPr>
          <p:cNvPr id="99" name="Shape 95"/>
          <p:cNvSpPr/>
          <p:nvPr/>
        </p:nvSpPr>
        <p:spPr>
          <a:xfrm>
            <a:off x="10689336" y="9976104"/>
            <a:ext cx="8695944" cy="1783080"/>
          </a:xfrm>
          <a:prstGeom prst="roundRect">
            <a:avLst>
              <a:gd name="adj" fmla="val 2564"/>
            </a:avLst>
          </a:prstGeom>
          <a:solidFill>
            <a:srgbClr val="E8EFF8"/>
          </a:solidFill>
          <a:ln w="6350">
            <a:solidFill>
              <a:srgbClr val="004B9B"/>
            </a:solidFill>
            <a:prstDash val="solid"/>
          </a:ln>
        </p:spPr>
      </p:sp>
      <p:sp>
        <p:nvSpPr>
          <p:cNvPr id="100" name="Text 96"/>
          <p:cNvSpPr/>
          <p:nvPr/>
        </p:nvSpPr>
        <p:spPr>
          <a:xfrm>
            <a:off x="10780776" y="10021824"/>
            <a:ext cx="8513064" cy="402336"/>
          </a:xfrm>
          <a:prstGeom prst="rect">
            <a:avLst/>
          </a:prstGeom>
          <a:noFill/>
          <a:ln/>
        </p:spPr>
        <p:txBody>
          <a:bodyPr wrap="square" rtlCol="0" anchor="ctr"/>
          <a:lstStyle/>
          <a:p>
            <a:pPr algn="ctr" indent="0" marL="0">
              <a:buNone/>
            </a:pPr>
            <a:r>
              <a:rPr lang="en-US" sz="1250" b="1" dirty="0">
                <a:solidFill>
                  <a:srgbClr val="002D6B"/>
                </a:solidFill>
                <a:latin typeface="Calibri" pitchFamily="34" charset="0"/>
                <a:ea typeface="Calibri" pitchFamily="34" charset="-122"/>
                <a:cs typeface="Calibri" pitchFamily="34" charset="-120"/>
              </a:rPr>
              <a:t>Multi-Head Self-Attention (4 heads, d_head=16)</a:t>
            </a:r>
            <a:endParaRPr lang="en-US" sz="1250" dirty="0"/>
          </a:p>
        </p:txBody>
      </p:sp>
      <p:sp>
        <p:nvSpPr>
          <p:cNvPr id="101" name="Text 97"/>
          <p:cNvSpPr/>
          <p:nvPr/>
        </p:nvSpPr>
        <p:spPr>
          <a:xfrm>
            <a:off x="10780776" y="10479024"/>
            <a:ext cx="8513064" cy="329184"/>
          </a:xfrm>
          <a:prstGeom prst="rect">
            <a:avLst/>
          </a:prstGeom>
          <a:noFill/>
          <a:ln/>
        </p:spPr>
        <p:txBody>
          <a:bodyPr wrap="square" rtlCol="0" anchor="ctr"/>
          <a:lstStyle/>
          <a:p>
            <a:pPr algn="ctr" indent="0" marL="0">
              <a:buNone/>
            </a:pPr>
            <a:r>
              <a:rPr lang="en-US" sz="1200" i="1" dirty="0">
                <a:solidFill>
                  <a:srgbClr val="111111"/>
                </a:solidFill>
                <a:latin typeface="Calibri" pitchFamily="34" charset="0"/>
                <a:ea typeface="Calibri" pitchFamily="34" charset="-122"/>
                <a:cs typeface="Calibri" pitchFamily="34" charset="-120"/>
              </a:rPr>
              <a:t>α = softmax(QKᵀ/√d_head) · V</a:t>
            </a:r>
            <a:endParaRPr lang="en-US" sz="1200" dirty="0"/>
          </a:p>
        </p:txBody>
      </p:sp>
      <p:sp>
        <p:nvSpPr>
          <p:cNvPr id="102" name="Text 98"/>
          <p:cNvSpPr/>
          <p:nvPr/>
        </p:nvSpPr>
        <p:spPr>
          <a:xfrm>
            <a:off x="10780776" y="10844784"/>
            <a:ext cx="8513064" cy="310896"/>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Q=TW_Q,  K=TW_K,  V=TW_V</a:t>
            </a:r>
            <a:endParaRPr lang="en-US" sz="1100" dirty="0"/>
          </a:p>
        </p:txBody>
      </p:sp>
      <p:sp>
        <p:nvSpPr>
          <p:cNvPr id="103" name="Shape 99"/>
          <p:cNvSpPr/>
          <p:nvPr/>
        </p:nvSpPr>
        <p:spPr>
          <a:xfrm>
            <a:off x="10689336" y="11868912"/>
            <a:ext cx="8695944" cy="1188720"/>
          </a:xfrm>
          <a:prstGeom prst="roundRect">
            <a:avLst>
              <a:gd name="adj" fmla="val 3846"/>
            </a:avLst>
          </a:prstGeom>
          <a:solidFill>
            <a:srgbClr val="F0FFF4"/>
          </a:solidFill>
          <a:ln w="6350">
            <a:solidFill>
              <a:srgbClr val="007A78"/>
            </a:solidFill>
            <a:prstDash val="solid"/>
          </a:ln>
        </p:spPr>
      </p:sp>
      <p:sp>
        <p:nvSpPr>
          <p:cNvPr id="104" name="Text 100"/>
          <p:cNvSpPr/>
          <p:nvPr/>
        </p:nvSpPr>
        <p:spPr>
          <a:xfrm>
            <a:off x="10780776" y="11905488"/>
            <a:ext cx="8513064" cy="402336"/>
          </a:xfrm>
          <a:prstGeom prst="rect">
            <a:avLst/>
          </a:prstGeom>
          <a:noFill/>
          <a:ln/>
        </p:spPr>
        <p:txBody>
          <a:bodyPr wrap="square" rtlCol="0" anchor="ctr"/>
          <a:lstStyle/>
          <a:p>
            <a:pPr algn="ctr" indent="0" marL="0">
              <a:buNone/>
            </a:pPr>
            <a:r>
              <a:rPr lang="en-US" sz="1250" b="1" dirty="0">
                <a:solidFill>
                  <a:srgbClr val="007A78"/>
                </a:solidFill>
                <a:latin typeface="Calibri" pitchFamily="34" charset="0"/>
                <a:ea typeface="Calibri" pitchFamily="34" charset="-122"/>
                <a:cs typeface="Calibri" pitchFamily="34" charset="-120"/>
              </a:rPr>
              <a:t>Feed-Forward Network (d_ff = 256)</a:t>
            </a:r>
            <a:endParaRPr lang="en-US" sz="1250" dirty="0"/>
          </a:p>
        </p:txBody>
      </p:sp>
      <p:sp>
        <p:nvSpPr>
          <p:cNvPr id="105" name="Text 101"/>
          <p:cNvSpPr/>
          <p:nvPr/>
        </p:nvSpPr>
        <p:spPr>
          <a:xfrm>
            <a:off x="10780776" y="12326112"/>
            <a:ext cx="8513064" cy="365760"/>
          </a:xfrm>
          <a:prstGeom prst="rect">
            <a:avLst/>
          </a:prstGeom>
          <a:noFill/>
          <a:ln/>
        </p:spPr>
        <p:txBody>
          <a:bodyPr wrap="square" rtlCol="0" anchor="ctr"/>
          <a:lstStyle/>
          <a:p>
            <a:pPr algn="ctr" indent="0" marL="0">
              <a:buNone/>
            </a:pPr>
            <a:r>
              <a:rPr lang="en-US" sz="1200" i="1" dirty="0">
                <a:solidFill>
                  <a:srgbClr val="111111"/>
                </a:solidFill>
                <a:latin typeface="Calibri" pitchFamily="34" charset="0"/>
                <a:ea typeface="Calibri" pitchFamily="34" charset="-122"/>
                <a:cs typeface="Calibri" pitchFamily="34" charset="-120"/>
              </a:rPr>
              <a:t>Linear(64→256) → GELU → Linear(256→64)</a:t>
            </a:r>
            <a:endParaRPr lang="en-US" sz="1200" dirty="0"/>
          </a:p>
        </p:txBody>
      </p:sp>
      <p:sp>
        <p:nvSpPr>
          <p:cNvPr id="106" name="Shape 102"/>
          <p:cNvSpPr/>
          <p:nvPr/>
        </p:nvSpPr>
        <p:spPr>
          <a:xfrm>
            <a:off x="10689336" y="13149072"/>
            <a:ext cx="8695944" cy="475488"/>
          </a:xfrm>
          <a:prstGeom prst="rect">
            <a:avLst/>
          </a:prstGeom>
          <a:solidFill>
            <a:srgbClr val="E8EFF8"/>
          </a:solidFill>
          <a:ln/>
        </p:spPr>
      </p:sp>
      <p:sp>
        <p:nvSpPr>
          <p:cNvPr id="107" name="Text 103"/>
          <p:cNvSpPr/>
          <p:nvPr/>
        </p:nvSpPr>
        <p:spPr>
          <a:xfrm>
            <a:off x="10762488" y="13167360"/>
            <a:ext cx="8549640" cy="438912"/>
          </a:xfrm>
          <a:prstGeom prst="rect">
            <a:avLst/>
          </a:prstGeom>
          <a:noFill/>
          <a:ln/>
        </p:spPr>
        <p:txBody>
          <a:bodyPr wrap="square" rtlCol="0" anchor="ctr"/>
          <a:lstStyle/>
          <a:p>
            <a:pPr algn="ctr" indent="0" marL="0">
              <a:buNone/>
            </a:pPr>
            <a:r>
              <a:rPr lang="en-US" sz="1100" i="1" dirty="0">
                <a:solidFill>
                  <a:srgbClr val="002D6B"/>
                </a:solidFill>
                <a:latin typeface="Calibri" pitchFamily="34" charset="0"/>
                <a:ea typeface="Calibri" pitchFamily="34" charset="-122"/>
                <a:cs typeface="Calibri" pitchFamily="34" charset="-120"/>
              </a:rPr>
              <a:t>d=64 · heads=4 · layers=2 · dropout=0.2 · d_ff=256</a:t>
            </a:r>
            <a:endParaRPr lang="en-US" sz="1100" dirty="0"/>
          </a:p>
        </p:txBody>
      </p:sp>
      <p:sp>
        <p:nvSpPr>
          <p:cNvPr id="108" name="Shape 104"/>
          <p:cNvSpPr/>
          <p:nvPr/>
        </p:nvSpPr>
        <p:spPr>
          <a:xfrm>
            <a:off x="15037308" y="14502384"/>
            <a:ext cx="0" cy="256032"/>
          </a:xfrm>
          <a:prstGeom prst="line">
            <a:avLst/>
          </a:prstGeom>
          <a:noFill/>
          <a:ln w="27940">
            <a:solidFill>
              <a:srgbClr val="007A78"/>
            </a:solidFill>
            <a:prstDash val="solid"/>
            <a:tailEnd type="triangle"/>
          </a:ln>
        </p:spPr>
      </p:sp>
      <p:sp>
        <p:nvSpPr>
          <p:cNvPr id="109" name="Shape 105"/>
          <p:cNvSpPr/>
          <p:nvPr/>
        </p:nvSpPr>
        <p:spPr>
          <a:xfrm>
            <a:off x="10433304" y="14758416"/>
            <a:ext cx="9208008" cy="749808"/>
          </a:xfrm>
          <a:prstGeom prst="roundRect">
            <a:avLst>
              <a:gd name="adj" fmla="val 7317"/>
            </a:avLst>
          </a:prstGeom>
          <a:solidFill>
            <a:srgbClr val="FFF5F5"/>
          </a:solidFill>
          <a:ln w="9525">
            <a:solidFill>
              <a:srgbClr val="B91C1C"/>
            </a:solidFill>
            <a:prstDash val="solid"/>
          </a:ln>
        </p:spPr>
      </p:sp>
      <p:sp>
        <p:nvSpPr>
          <p:cNvPr id="110" name="Text 106"/>
          <p:cNvSpPr/>
          <p:nvPr/>
        </p:nvSpPr>
        <p:spPr>
          <a:xfrm>
            <a:off x="10561320" y="14758416"/>
            <a:ext cx="8951976" cy="749808"/>
          </a:xfrm>
          <a:prstGeom prst="rect">
            <a:avLst/>
          </a:prstGeom>
          <a:noFill/>
          <a:ln/>
        </p:spPr>
        <p:txBody>
          <a:bodyPr wrap="square" rtlCol="0" anchor="ctr"/>
          <a:lstStyle/>
          <a:p>
            <a:pPr algn="ctr" indent="0" marL="0">
              <a:buNone/>
            </a:pPr>
            <a:r>
              <a:rPr lang="en-US" sz="1250" b="1" dirty="0">
                <a:solidFill>
                  <a:srgbClr val="B91C1C"/>
                </a:solidFill>
                <a:latin typeface="Calibri" pitchFamily="34" charset="0"/>
                <a:ea typeface="Calibri" pitchFamily="34" charset="-122"/>
                <a:cs typeface="Calibri" pitchFamily="34" charset="-120"/>
              </a:rPr>
              <a:t>MC Dropout (p=0.2)</a:t>
            </a:r>
            <a:pPr algn="ctr" indent="0" marL="0">
              <a:buNone/>
            </a:pPr>
            <a:r>
              <a:rPr lang="en-US" sz="1250" dirty="0">
                <a:solidFill>
                  <a:srgbClr val="111111"/>
                </a:solidFill>
                <a:latin typeface="Calibri" pitchFamily="34" charset="0"/>
                <a:ea typeface="Calibri" pitchFamily="34" charset="-122"/>
                <a:cs typeface="Calibri" pitchFamily="34" charset="-120"/>
              </a:rPr>
              <a:t xml:space="preserve">  ·  ACTIVE at inference · T=30 stochastic passes → epistemic uncertainty</a:t>
            </a:r>
            <a:endParaRPr lang="en-US" sz="1250" dirty="0"/>
          </a:p>
        </p:txBody>
      </p:sp>
      <p:sp>
        <p:nvSpPr>
          <p:cNvPr id="111" name="Shape 107"/>
          <p:cNvSpPr/>
          <p:nvPr/>
        </p:nvSpPr>
        <p:spPr>
          <a:xfrm>
            <a:off x="15037308" y="15508224"/>
            <a:ext cx="0" cy="256032"/>
          </a:xfrm>
          <a:prstGeom prst="line">
            <a:avLst/>
          </a:prstGeom>
          <a:noFill/>
          <a:ln w="27940">
            <a:solidFill>
              <a:srgbClr val="007A78"/>
            </a:solidFill>
            <a:prstDash val="solid"/>
            <a:tailEnd type="triangle"/>
          </a:ln>
        </p:spPr>
      </p:sp>
      <p:sp>
        <p:nvSpPr>
          <p:cNvPr id="112" name="Shape 108"/>
          <p:cNvSpPr/>
          <p:nvPr/>
        </p:nvSpPr>
        <p:spPr>
          <a:xfrm>
            <a:off x="10433304" y="15764256"/>
            <a:ext cx="9208008" cy="685800"/>
          </a:xfrm>
          <a:prstGeom prst="roundRect">
            <a:avLst>
              <a:gd name="adj" fmla="val 8000"/>
            </a:avLst>
          </a:prstGeom>
          <a:solidFill>
            <a:srgbClr val="FFFFFF"/>
          </a:solidFill>
          <a:ln w="9525">
            <a:solidFill>
              <a:srgbClr val="002D6B"/>
            </a:solidFill>
            <a:prstDash val="solid"/>
          </a:ln>
        </p:spPr>
      </p:sp>
      <p:sp>
        <p:nvSpPr>
          <p:cNvPr id="113" name="Text 109"/>
          <p:cNvSpPr/>
          <p:nvPr/>
        </p:nvSpPr>
        <p:spPr>
          <a:xfrm>
            <a:off x="10561320" y="15764256"/>
            <a:ext cx="8951976" cy="685800"/>
          </a:xfrm>
          <a:prstGeom prst="rect">
            <a:avLst/>
          </a:prstGeom>
          <a:noFill/>
          <a:ln/>
        </p:spPr>
        <p:txBody>
          <a:bodyPr wrap="square" rtlCol="0" anchor="ctr"/>
          <a:lstStyle/>
          <a:p>
            <a:pPr algn="ctr" indent="0" marL="0">
              <a:buNone/>
            </a:pPr>
            <a:r>
              <a:rPr lang="en-US" sz="1250" b="1" dirty="0">
                <a:solidFill>
                  <a:srgbClr val="002D6B"/>
                </a:solidFill>
                <a:latin typeface="Calibri" pitchFamily="34" charset="0"/>
                <a:ea typeface="Calibri" pitchFamily="34" charset="-122"/>
                <a:cs typeface="Calibri" pitchFamily="34" charset="-120"/>
              </a:rPr>
              <a:t>LayerNorm → Linear(64→2) → Softmax  →  p(νₑ|x),  p(νμ|x)</a:t>
            </a:r>
            <a:endParaRPr lang="en-US" sz="1250" dirty="0"/>
          </a:p>
        </p:txBody>
      </p:sp>
      <p:sp>
        <p:nvSpPr>
          <p:cNvPr id="114" name="Shape 110"/>
          <p:cNvSpPr/>
          <p:nvPr/>
        </p:nvSpPr>
        <p:spPr>
          <a:xfrm>
            <a:off x="10250424" y="16587216"/>
            <a:ext cx="9573768" cy="0"/>
          </a:xfrm>
          <a:prstGeom prst="line">
            <a:avLst/>
          </a:prstGeom>
          <a:noFill/>
          <a:ln w="9525">
            <a:solidFill>
              <a:srgbClr val="CCCCCC"/>
            </a:solidFill>
            <a:prstDash val="solid"/>
          </a:ln>
        </p:spPr>
      </p:sp>
      <p:sp>
        <p:nvSpPr>
          <p:cNvPr id="115" name="Text 111"/>
          <p:cNvSpPr/>
          <p:nvPr/>
        </p:nvSpPr>
        <p:spPr>
          <a:xfrm>
            <a:off x="10250424" y="16751808"/>
            <a:ext cx="9573768" cy="384048"/>
          </a:xfrm>
          <a:prstGeom prst="rect">
            <a:avLst/>
          </a:prstGeom>
          <a:noFill/>
          <a:ln/>
        </p:spPr>
        <p:txBody>
          <a:bodyPr wrap="square" lIns="38100" tIns="38100" rIns="38100" bIns="38100" rtlCol="0" anchor="t"/>
          <a:lstStyle/>
          <a:p>
            <a:pPr algn="l" indent="0" marL="0">
              <a:buNone/>
            </a:pPr>
            <a:r>
              <a:rPr lang="en-US" sz="1300" b="1" dirty="0">
                <a:solidFill>
                  <a:srgbClr val="002D6B"/>
                </a:solidFill>
                <a:latin typeface="Calibri" pitchFamily="34" charset="0"/>
                <a:ea typeface="Calibri" pitchFamily="34" charset="-122"/>
                <a:cs typeface="Calibri" pitchFamily="34" charset="-120"/>
              </a:rPr>
              <a:t>B.  Uncertainty Quantification Metrics</a:t>
            </a:r>
            <a:endParaRPr lang="en-US" sz="1300" dirty="0"/>
          </a:p>
        </p:txBody>
      </p:sp>
      <p:sp>
        <p:nvSpPr>
          <p:cNvPr id="116" name="Shape 112"/>
          <p:cNvSpPr/>
          <p:nvPr/>
        </p:nvSpPr>
        <p:spPr>
          <a:xfrm>
            <a:off x="10250424" y="17209008"/>
            <a:ext cx="9573768" cy="566928"/>
          </a:xfrm>
          <a:prstGeom prst="rect">
            <a:avLst/>
          </a:prstGeom>
          <a:solidFill>
            <a:srgbClr val="E8EFF8"/>
          </a:solidFill>
          <a:ln/>
        </p:spPr>
      </p:sp>
      <p:sp>
        <p:nvSpPr>
          <p:cNvPr id="117" name="Text 113"/>
          <p:cNvSpPr/>
          <p:nvPr/>
        </p:nvSpPr>
        <p:spPr>
          <a:xfrm>
            <a:off x="10387584" y="17263872"/>
            <a:ext cx="9299448" cy="475488"/>
          </a:xfrm>
          <a:prstGeom prst="rect">
            <a:avLst/>
          </a:prstGeom>
          <a:noFill/>
          <a:ln/>
        </p:spPr>
        <p:txBody>
          <a:bodyPr wrap="square" rtlCol="0" anchor="ctr"/>
          <a:lstStyle/>
          <a:p>
            <a:pPr indent="0" marL="0">
              <a:buNone/>
            </a:pPr>
            <a:r>
              <a:rPr lang="en-US" sz="1150" b="1" dirty="0">
                <a:solidFill>
                  <a:srgbClr val="002D6B"/>
                </a:solidFill>
                <a:latin typeface="Calibri" pitchFamily="34" charset="0"/>
                <a:ea typeface="Calibri" pitchFamily="34" charset="-122"/>
                <a:cs typeface="Calibri" pitchFamily="34" charset="-120"/>
              </a:rPr>
              <a:t>Epistemic uncertainty</a:t>
            </a:r>
            <a:pPr indent="0" marL="0">
              <a:buNone/>
            </a:pPr>
            <a:r>
              <a:rPr lang="en-US" sz="1150" dirty="0">
                <a:solidFill>
                  <a:srgbClr val="111111"/>
                </a:solidFill>
                <a:latin typeface="Calibri" pitchFamily="34" charset="0"/>
                <a:ea typeface="Calibri" pitchFamily="34" charset="-122"/>
                <a:cs typeface="Calibri" pitchFamily="34" charset="-120"/>
              </a:rPr>
              <a:t xml:space="preserve"> (model uncertainty, reducible) is captured by MC Dropout. </a:t>
            </a:r>
            <a:pPr indent="0" marL="0">
              <a:buNone/>
            </a:pPr>
            <a:r>
              <a:rPr lang="en-US" sz="1150" b="1" dirty="0">
                <a:solidFill>
                  <a:srgbClr val="555555"/>
                </a:solidFill>
                <a:latin typeface="Calibri" pitchFamily="34" charset="0"/>
                <a:ea typeface="Calibri" pitchFamily="34" charset="-122"/>
                <a:cs typeface="Calibri" pitchFamily="34" charset="-120"/>
              </a:rPr>
              <a:t>Aleatoric uncertainty</a:t>
            </a:r>
            <a:pPr indent="0" marL="0">
              <a:buNone/>
            </a:pPr>
            <a:r>
              <a:rPr lang="en-US" sz="1150" dirty="0">
                <a:solidFill>
                  <a:srgbClr val="111111"/>
                </a:solidFill>
                <a:latin typeface="Calibri" pitchFamily="34" charset="0"/>
                <a:ea typeface="Calibri" pitchFamily="34" charset="-122"/>
                <a:cs typeface="Calibri" pitchFamily="34" charset="-120"/>
              </a:rPr>
              <a:t xml:space="preserve"> (inherent data noise, irreducible) is present in both classes but not separately modelled here.</a:t>
            </a:r>
            <a:endParaRPr lang="en-US" sz="1150" dirty="0"/>
          </a:p>
        </p:txBody>
      </p:sp>
      <p:sp>
        <p:nvSpPr>
          <p:cNvPr id="118" name="Shape 114"/>
          <p:cNvSpPr/>
          <p:nvPr/>
        </p:nvSpPr>
        <p:spPr>
          <a:xfrm>
            <a:off x="10250424" y="17867376"/>
            <a:ext cx="9573768" cy="3840480"/>
          </a:xfrm>
          <a:prstGeom prst="rect">
            <a:avLst/>
          </a:prstGeom>
          <a:solidFill>
            <a:srgbClr val="F5F7FA"/>
          </a:solidFill>
          <a:ln/>
        </p:spPr>
      </p:sp>
      <p:sp>
        <p:nvSpPr>
          <p:cNvPr id="119" name="Shape 115"/>
          <p:cNvSpPr/>
          <p:nvPr/>
        </p:nvSpPr>
        <p:spPr>
          <a:xfrm>
            <a:off x="10250424" y="17867376"/>
            <a:ext cx="182880" cy="3840480"/>
          </a:xfrm>
          <a:prstGeom prst="rect">
            <a:avLst/>
          </a:prstGeom>
          <a:solidFill>
            <a:srgbClr val="B91C1C"/>
          </a:solidFill>
          <a:ln/>
        </p:spPr>
      </p:sp>
      <p:sp>
        <p:nvSpPr>
          <p:cNvPr id="120" name="Shape 116"/>
          <p:cNvSpPr/>
          <p:nvPr/>
        </p:nvSpPr>
        <p:spPr>
          <a:xfrm>
            <a:off x="18251424" y="17958816"/>
            <a:ext cx="1444752" cy="365760"/>
          </a:xfrm>
          <a:prstGeom prst="roundRect">
            <a:avLst>
              <a:gd name="adj" fmla="val 10000"/>
            </a:avLst>
          </a:prstGeom>
          <a:solidFill>
            <a:srgbClr val="B91C1C"/>
          </a:solidFill>
          <a:ln w="9525">
            <a:solidFill>
              <a:srgbClr val="B91C1C"/>
            </a:solidFill>
            <a:prstDash val="solid"/>
          </a:ln>
        </p:spPr>
      </p:sp>
      <p:sp>
        <p:nvSpPr>
          <p:cNvPr id="121" name="Text 117"/>
          <p:cNvSpPr/>
          <p:nvPr/>
        </p:nvSpPr>
        <p:spPr>
          <a:xfrm>
            <a:off x="18269712" y="17977104"/>
            <a:ext cx="1417320" cy="32918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Best: 0.0021★</a:t>
            </a:r>
            <a:endParaRPr lang="en-US" sz="1100" dirty="0"/>
          </a:p>
        </p:txBody>
      </p:sp>
      <p:sp>
        <p:nvSpPr>
          <p:cNvPr id="122" name="Text 118"/>
          <p:cNvSpPr/>
          <p:nvPr/>
        </p:nvSpPr>
        <p:spPr>
          <a:xfrm>
            <a:off x="10524744" y="17958816"/>
            <a:ext cx="7653528" cy="402336"/>
          </a:xfrm>
          <a:prstGeom prst="rect">
            <a:avLst/>
          </a:prstGeom>
          <a:noFill/>
          <a:ln/>
        </p:spPr>
        <p:txBody>
          <a:bodyPr wrap="square" lIns="38100" tIns="38100" rIns="38100" bIns="38100" rtlCol="0" anchor="t"/>
          <a:lstStyle/>
          <a:p>
            <a:pPr algn="l" indent="0" marL="0">
              <a:buNone/>
            </a:pPr>
            <a:r>
              <a:rPr lang="en-US" sz="1300" b="1" dirty="0">
                <a:solidFill>
                  <a:srgbClr val="B91C1C"/>
                </a:solidFill>
                <a:latin typeface="Calibri" pitchFamily="34" charset="0"/>
                <a:ea typeface="Calibri" pitchFamily="34" charset="-122"/>
                <a:cs typeface="Calibri" pitchFamily="34" charset="-120"/>
              </a:rPr>
              <a:t>① Expected Calibration Error (ECE)</a:t>
            </a:r>
            <a:endParaRPr lang="en-US" sz="1300" dirty="0"/>
          </a:p>
        </p:txBody>
      </p:sp>
      <p:sp>
        <p:nvSpPr>
          <p:cNvPr id="123" name="Shape 119"/>
          <p:cNvSpPr/>
          <p:nvPr/>
        </p:nvSpPr>
        <p:spPr>
          <a:xfrm>
            <a:off x="10524744" y="18416016"/>
            <a:ext cx="9116568" cy="457200"/>
          </a:xfrm>
          <a:prstGeom prst="rect">
            <a:avLst/>
          </a:prstGeom>
          <a:solidFill>
            <a:srgbClr val="FFFFFF"/>
          </a:solidFill>
          <a:ln/>
        </p:spPr>
      </p:sp>
      <p:sp>
        <p:nvSpPr>
          <p:cNvPr id="124" name="Text 120"/>
          <p:cNvSpPr/>
          <p:nvPr/>
        </p:nvSpPr>
        <p:spPr>
          <a:xfrm>
            <a:off x="10597896" y="18434304"/>
            <a:ext cx="8970264" cy="420624"/>
          </a:xfrm>
          <a:prstGeom prst="rect">
            <a:avLst/>
          </a:prstGeom>
          <a:noFill/>
          <a:ln/>
        </p:spPr>
        <p:txBody>
          <a:bodyPr wrap="square" lIns="0" tIns="0" rIns="0" bIns="0" rtlCol="0" anchor="ctr"/>
          <a:lstStyle/>
          <a:p>
            <a:pPr algn="ctr" indent="0" marL="0">
              <a:buNone/>
            </a:pPr>
            <a:r>
              <a:rPr lang="en-US" sz="1250" b="1" dirty="0">
                <a:solidFill>
                  <a:srgbClr val="002D6B"/>
                </a:solidFill>
                <a:latin typeface="Calibri" pitchFamily="34" charset="0"/>
                <a:ea typeface="Calibri" pitchFamily="34" charset="-122"/>
                <a:cs typeface="Calibri" pitchFamily="34" charset="-120"/>
              </a:rPr>
              <a:t>ECE = Σ (|Bₘ|/n) × |acc(Bₘ) − conf(Bₘ)|</a:t>
            </a:r>
            <a:endParaRPr lang="en-US" sz="1250" dirty="0"/>
          </a:p>
        </p:txBody>
      </p:sp>
      <p:sp>
        <p:nvSpPr>
          <p:cNvPr id="125" name="Shape 121"/>
          <p:cNvSpPr/>
          <p:nvPr/>
        </p:nvSpPr>
        <p:spPr>
          <a:xfrm>
            <a:off x="11635740" y="18982944"/>
            <a:ext cx="1508760" cy="777240"/>
          </a:xfrm>
          <a:prstGeom prst="roundRect">
            <a:avLst>
              <a:gd name="adj" fmla="val 5882"/>
            </a:avLst>
          </a:prstGeom>
          <a:solidFill>
            <a:srgbClr val="FFFFFF"/>
          </a:solidFill>
          <a:ln w="9525">
            <a:solidFill>
              <a:srgbClr val="B91C1C"/>
            </a:solidFill>
            <a:prstDash val="solid"/>
          </a:ln>
        </p:spPr>
      </p:sp>
      <p:sp>
        <p:nvSpPr>
          <p:cNvPr id="126" name="Text 122"/>
          <p:cNvSpPr/>
          <p:nvPr/>
        </p:nvSpPr>
        <p:spPr>
          <a:xfrm>
            <a:off x="11635740" y="18982944"/>
            <a:ext cx="1508760" cy="777240"/>
          </a:xfrm>
          <a:prstGeom prst="rect">
            <a:avLst/>
          </a:prstGeom>
          <a:noFill/>
          <a:ln/>
        </p:spPr>
        <p:txBody>
          <a:bodyPr wrap="square" rtlCol="0" anchor="ctr"/>
          <a:lstStyle/>
          <a:p>
            <a:pPr algn="ctr" indent="0" marL="0">
              <a:buNone/>
            </a:pPr>
            <a:r>
              <a:rPr lang="en-US" sz="1100" b="1" dirty="0">
                <a:solidFill>
                  <a:srgbClr val="B91C1C"/>
                </a:solidFill>
                <a:latin typeface="Calibri" pitchFamily="34" charset="0"/>
                <a:ea typeface="Calibri" pitchFamily="34" charset="-122"/>
                <a:cs typeface="Calibri" pitchFamily="34" charset="-120"/>
              </a:rPr>
              <a:t>Raw</a:t>
            </a:r>
            <a:endParaRPr lang="en-US" sz="1100" dirty="0"/>
          </a:p>
          <a:p>
            <a:pPr algn="ctr" indent="0" marL="0">
              <a:buNone/>
            </a:pPr>
            <a:r>
              <a:rPr lang="en-US" sz="1100" b="1" dirty="0">
                <a:solidFill>
                  <a:srgbClr val="B91C1C"/>
                </a:solidFill>
                <a:latin typeface="Calibri" pitchFamily="34" charset="0"/>
                <a:ea typeface="Calibri" pitchFamily="34" charset="-122"/>
                <a:cs typeface="Calibri" pitchFamily="34" charset="-120"/>
              </a:rPr>
              <a:t>probs</a:t>
            </a:r>
            <a:endParaRPr lang="en-US" sz="1100" dirty="0"/>
          </a:p>
        </p:txBody>
      </p:sp>
      <p:sp>
        <p:nvSpPr>
          <p:cNvPr id="127" name="Shape 123"/>
          <p:cNvSpPr/>
          <p:nvPr/>
        </p:nvSpPr>
        <p:spPr>
          <a:xfrm>
            <a:off x="13171932" y="19371564"/>
            <a:ext cx="201168" cy="0"/>
          </a:xfrm>
          <a:prstGeom prst="line">
            <a:avLst/>
          </a:prstGeom>
          <a:noFill/>
          <a:ln w="25400">
            <a:solidFill>
              <a:srgbClr val="007A78"/>
            </a:solidFill>
            <a:prstDash val="solid"/>
            <a:tailEnd type="triangle"/>
          </a:ln>
        </p:spPr>
      </p:sp>
      <p:sp>
        <p:nvSpPr>
          <p:cNvPr id="128" name="Shape 124"/>
          <p:cNvSpPr/>
          <p:nvPr/>
        </p:nvSpPr>
        <p:spPr>
          <a:xfrm>
            <a:off x="13400532" y="18982944"/>
            <a:ext cx="1508760" cy="777240"/>
          </a:xfrm>
          <a:prstGeom prst="roundRect">
            <a:avLst>
              <a:gd name="adj" fmla="val 5882"/>
            </a:avLst>
          </a:prstGeom>
          <a:solidFill>
            <a:srgbClr val="FFFFFF"/>
          </a:solidFill>
          <a:ln w="9525">
            <a:solidFill>
              <a:srgbClr val="B91C1C"/>
            </a:solidFill>
            <a:prstDash val="solid"/>
          </a:ln>
        </p:spPr>
      </p:sp>
      <p:sp>
        <p:nvSpPr>
          <p:cNvPr id="129" name="Text 125"/>
          <p:cNvSpPr/>
          <p:nvPr/>
        </p:nvSpPr>
        <p:spPr>
          <a:xfrm>
            <a:off x="13400532" y="18982944"/>
            <a:ext cx="1508760" cy="777240"/>
          </a:xfrm>
          <a:prstGeom prst="rect">
            <a:avLst/>
          </a:prstGeom>
          <a:noFill/>
          <a:ln/>
        </p:spPr>
        <p:txBody>
          <a:bodyPr wrap="square" rtlCol="0" anchor="ctr"/>
          <a:lstStyle/>
          <a:p>
            <a:pPr algn="ctr" indent="0" marL="0">
              <a:buNone/>
            </a:pPr>
            <a:r>
              <a:rPr lang="en-US" sz="1100" b="1" dirty="0">
                <a:solidFill>
                  <a:srgbClr val="B91C1C"/>
                </a:solidFill>
                <a:latin typeface="Calibri" pitchFamily="34" charset="0"/>
                <a:ea typeface="Calibri" pitchFamily="34" charset="-122"/>
                <a:cs typeface="Calibri" pitchFamily="34" charset="-120"/>
              </a:rPr>
              <a:t>Bin by</a:t>
            </a:r>
            <a:endParaRPr lang="en-US" sz="1100" dirty="0"/>
          </a:p>
          <a:p>
            <a:pPr algn="ctr" indent="0" marL="0">
              <a:buNone/>
            </a:pPr>
            <a:r>
              <a:rPr lang="en-US" sz="1100" b="1" dirty="0">
                <a:solidFill>
                  <a:srgbClr val="B91C1C"/>
                </a:solidFill>
                <a:latin typeface="Calibri" pitchFamily="34" charset="0"/>
                <a:ea typeface="Calibri" pitchFamily="34" charset="-122"/>
                <a:cs typeface="Calibri" pitchFamily="34" charset="-120"/>
              </a:rPr>
              <a:t>conf.</a:t>
            </a:r>
            <a:endParaRPr lang="en-US" sz="1100" dirty="0"/>
          </a:p>
        </p:txBody>
      </p:sp>
      <p:sp>
        <p:nvSpPr>
          <p:cNvPr id="130" name="Shape 126"/>
          <p:cNvSpPr/>
          <p:nvPr/>
        </p:nvSpPr>
        <p:spPr>
          <a:xfrm>
            <a:off x="14936724" y="19371564"/>
            <a:ext cx="201168" cy="0"/>
          </a:xfrm>
          <a:prstGeom prst="line">
            <a:avLst/>
          </a:prstGeom>
          <a:noFill/>
          <a:ln w="25400">
            <a:solidFill>
              <a:srgbClr val="007A78"/>
            </a:solidFill>
            <a:prstDash val="solid"/>
            <a:tailEnd type="triangle"/>
          </a:ln>
        </p:spPr>
      </p:sp>
      <p:sp>
        <p:nvSpPr>
          <p:cNvPr id="131" name="Shape 127"/>
          <p:cNvSpPr/>
          <p:nvPr/>
        </p:nvSpPr>
        <p:spPr>
          <a:xfrm>
            <a:off x="15165324" y="18982944"/>
            <a:ext cx="1508760" cy="777240"/>
          </a:xfrm>
          <a:prstGeom prst="roundRect">
            <a:avLst>
              <a:gd name="adj" fmla="val 5882"/>
            </a:avLst>
          </a:prstGeom>
          <a:solidFill>
            <a:srgbClr val="FFFFFF"/>
          </a:solidFill>
          <a:ln w="9525">
            <a:solidFill>
              <a:srgbClr val="B91C1C"/>
            </a:solidFill>
            <a:prstDash val="solid"/>
          </a:ln>
        </p:spPr>
      </p:sp>
      <p:sp>
        <p:nvSpPr>
          <p:cNvPr id="132" name="Text 128"/>
          <p:cNvSpPr/>
          <p:nvPr/>
        </p:nvSpPr>
        <p:spPr>
          <a:xfrm>
            <a:off x="15165324" y="18982944"/>
            <a:ext cx="1508760" cy="777240"/>
          </a:xfrm>
          <a:prstGeom prst="rect">
            <a:avLst/>
          </a:prstGeom>
          <a:noFill/>
          <a:ln/>
        </p:spPr>
        <p:txBody>
          <a:bodyPr wrap="square" rtlCol="0" anchor="ctr"/>
          <a:lstStyle/>
          <a:p>
            <a:pPr algn="ctr" indent="0" marL="0">
              <a:buNone/>
            </a:pPr>
            <a:r>
              <a:rPr lang="en-US" sz="1100" b="1" dirty="0">
                <a:solidFill>
                  <a:srgbClr val="B91C1C"/>
                </a:solidFill>
                <a:latin typeface="Calibri" pitchFamily="34" charset="0"/>
                <a:ea typeface="Calibri" pitchFamily="34" charset="-122"/>
                <a:cs typeface="Calibri" pitchFamily="34" charset="-120"/>
              </a:rPr>
              <a:t>Gap:</a:t>
            </a:r>
            <a:endParaRPr lang="en-US" sz="1100" dirty="0"/>
          </a:p>
          <a:p>
            <a:pPr algn="ctr" indent="0" marL="0">
              <a:buNone/>
            </a:pPr>
            <a:r>
              <a:rPr lang="en-US" sz="1100" b="1" dirty="0">
                <a:solidFill>
                  <a:srgbClr val="B91C1C"/>
                </a:solidFill>
                <a:latin typeface="Calibri" pitchFamily="34" charset="0"/>
                <a:ea typeface="Calibri" pitchFamily="34" charset="-122"/>
                <a:cs typeface="Calibri" pitchFamily="34" charset="-120"/>
              </a:rPr>
              <a:t>conf−acc</a:t>
            </a:r>
            <a:endParaRPr lang="en-US" sz="1100" dirty="0"/>
          </a:p>
        </p:txBody>
      </p:sp>
      <p:sp>
        <p:nvSpPr>
          <p:cNvPr id="133" name="Shape 129"/>
          <p:cNvSpPr/>
          <p:nvPr/>
        </p:nvSpPr>
        <p:spPr>
          <a:xfrm>
            <a:off x="16701516" y="19371564"/>
            <a:ext cx="201168" cy="0"/>
          </a:xfrm>
          <a:prstGeom prst="line">
            <a:avLst/>
          </a:prstGeom>
          <a:noFill/>
          <a:ln w="25400">
            <a:solidFill>
              <a:srgbClr val="007A78"/>
            </a:solidFill>
            <a:prstDash val="solid"/>
            <a:tailEnd type="triangle"/>
          </a:ln>
        </p:spPr>
      </p:sp>
      <p:sp>
        <p:nvSpPr>
          <p:cNvPr id="134" name="Shape 130"/>
          <p:cNvSpPr/>
          <p:nvPr/>
        </p:nvSpPr>
        <p:spPr>
          <a:xfrm>
            <a:off x="16930116" y="18982944"/>
            <a:ext cx="1508760" cy="777240"/>
          </a:xfrm>
          <a:prstGeom prst="roundRect">
            <a:avLst>
              <a:gd name="adj" fmla="val 5882"/>
            </a:avLst>
          </a:prstGeom>
          <a:solidFill>
            <a:srgbClr val="FFFFFF"/>
          </a:solidFill>
          <a:ln w="9525">
            <a:solidFill>
              <a:srgbClr val="B91C1C"/>
            </a:solidFill>
            <a:prstDash val="solid"/>
          </a:ln>
        </p:spPr>
      </p:sp>
      <p:sp>
        <p:nvSpPr>
          <p:cNvPr id="135" name="Text 131"/>
          <p:cNvSpPr/>
          <p:nvPr/>
        </p:nvSpPr>
        <p:spPr>
          <a:xfrm>
            <a:off x="16930116" y="18982944"/>
            <a:ext cx="1508760" cy="777240"/>
          </a:xfrm>
          <a:prstGeom prst="rect">
            <a:avLst/>
          </a:prstGeom>
          <a:noFill/>
          <a:ln/>
        </p:spPr>
        <p:txBody>
          <a:bodyPr wrap="square" rtlCol="0" anchor="ctr"/>
          <a:lstStyle/>
          <a:p>
            <a:pPr algn="ctr" indent="0" marL="0">
              <a:buNone/>
            </a:pPr>
            <a:r>
              <a:rPr lang="en-US" sz="1100" b="1" dirty="0">
                <a:solidFill>
                  <a:srgbClr val="B91C1C"/>
                </a:solidFill>
                <a:latin typeface="Calibri" pitchFamily="34" charset="0"/>
                <a:ea typeface="Calibri" pitchFamily="34" charset="-122"/>
                <a:cs typeface="Calibri" pitchFamily="34" charset="-120"/>
              </a:rPr>
              <a:t>ECE</a:t>
            </a:r>
            <a:endParaRPr lang="en-US" sz="1100" dirty="0"/>
          </a:p>
          <a:p>
            <a:pPr algn="ctr" indent="0" marL="0">
              <a:buNone/>
            </a:pPr>
            <a:r>
              <a:rPr lang="en-US" sz="1100" b="1" dirty="0">
                <a:solidFill>
                  <a:srgbClr val="B91C1C"/>
                </a:solidFill>
                <a:latin typeface="Calibri" pitchFamily="34" charset="0"/>
                <a:ea typeface="Calibri" pitchFamily="34" charset="-122"/>
                <a:cs typeface="Calibri" pitchFamily="34" charset="-120"/>
              </a:rPr>
              <a:t>sum</a:t>
            </a:r>
            <a:endParaRPr lang="en-US" sz="1100" dirty="0"/>
          </a:p>
        </p:txBody>
      </p:sp>
      <p:sp>
        <p:nvSpPr>
          <p:cNvPr id="136" name="Shape 132"/>
          <p:cNvSpPr/>
          <p:nvPr/>
        </p:nvSpPr>
        <p:spPr>
          <a:xfrm>
            <a:off x="10250424" y="21826728"/>
            <a:ext cx="9573768" cy="0"/>
          </a:xfrm>
          <a:prstGeom prst="line">
            <a:avLst/>
          </a:prstGeom>
          <a:noFill/>
          <a:ln w="9525">
            <a:solidFill>
              <a:srgbClr val="CCCCCC"/>
            </a:solidFill>
            <a:prstDash val="solid"/>
          </a:ln>
        </p:spPr>
      </p:sp>
      <p:sp>
        <p:nvSpPr>
          <p:cNvPr id="137" name="Shape 133"/>
          <p:cNvSpPr/>
          <p:nvPr/>
        </p:nvSpPr>
        <p:spPr>
          <a:xfrm>
            <a:off x="10250424" y="21918168"/>
            <a:ext cx="9573768" cy="3931920"/>
          </a:xfrm>
          <a:prstGeom prst="rect">
            <a:avLst/>
          </a:prstGeom>
          <a:solidFill>
            <a:srgbClr val="F5F7FA"/>
          </a:solidFill>
          <a:ln/>
        </p:spPr>
      </p:sp>
      <p:sp>
        <p:nvSpPr>
          <p:cNvPr id="138" name="Shape 134"/>
          <p:cNvSpPr/>
          <p:nvPr/>
        </p:nvSpPr>
        <p:spPr>
          <a:xfrm>
            <a:off x="10250424" y="21918168"/>
            <a:ext cx="182880" cy="3931920"/>
          </a:xfrm>
          <a:prstGeom prst="rect">
            <a:avLst/>
          </a:prstGeom>
          <a:solidFill>
            <a:srgbClr val="007A78"/>
          </a:solidFill>
          <a:ln/>
        </p:spPr>
      </p:sp>
      <p:sp>
        <p:nvSpPr>
          <p:cNvPr id="139" name="Shape 135"/>
          <p:cNvSpPr/>
          <p:nvPr/>
        </p:nvSpPr>
        <p:spPr>
          <a:xfrm>
            <a:off x="18251424" y="22009608"/>
            <a:ext cx="1444752" cy="365760"/>
          </a:xfrm>
          <a:prstGeom prst="roundRect">
            <a:avLst>
              <a:gd name="adj" fmla="val 10000"/>
            </a:avLst>
          </a:prstGeom>
          <a:solidFill>
            <a:srgbClr val="007A78"/>
          </a:solidFill>
          <a:ln w="9525">
            <a:solidFill>
              <a:srgbClr val="007A78"/>
            </a:solidFill>
            <a:prstDash val="solid"/>
          </a:ln>
        </p:spPr>
      </p:sp>
      <p:sp>
        <p:nvSpPr>
          <p:cNvPr id="140" name="Text 136"/>
          <p:cNvSpPr/>
          <p:nvPr/>
        </p:nvSpPr>
        <p:spPr>
          <a:xfrm>
            <a:off x="18269712" y="22027896"/>
            <a:ext cx="1417320" cy="32918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Epistemic ★</a:t>
            </a:r>
            <a:endParaRPr lang="en-US" sz="1100" dirty="0"/>
          </a:p>
        </p:txBody>
      </p:sp>
      <p:sp>
        <p:nvSpPr>
          <p:cNvPr id="141" name="Text 137"/>
          <p:cNvSpPr/>
          <p:nvPr/>
        </p:nvSpPr>
        <p:spPr>
          <a:xfrm>
            <a:off x="10524744" y="22009608"/>
            <a:ext cx="7653528" cy="402336"/>
          </a:xfrm>
          <a:prstGeom prst="rect">
            <a:avLst/>
          </a:prstGeom>
          <a:noFill/>
          <a:ln/>
        </p:spPr>
        <p:txBody>
          <a:bodyPr wrap="square" lIns="38100" tIns="38100" rIns="38100" bIns="38100" rtlCol="0" anchor="t"/>
          <a:lstStyle/>
          <a:p>
            <a:pPr algn="l" indent="0" marL="0">
              <a:buNone/>
            </a:pPr>
            <a:r>
              <a:rPr lang="en-US" sz="1300" b="1" dirty="0">
                <a:solidFill>
                  <a:srgbClr val="007A78"/>
                </a:solidFill>
                <a:latin typeface="Calibri" pitchFamily="34" charset="0"/>
                <a:ea typeface="Calibri" pitchFamily="34" charset="-122"/>
                <a:cs typeface="Calibri" pitchFamily="34" charset="-120"/>
              </a:rPr>
              <a:t>② Predictive Entropy — OOD Detection</a:t>
            </a:r>
            <a:endParaRPr lang="en-US" sz="1300" dirty="0"/>
          </a:p>
        </p:txBody>
      </p:sp>
      <p:sp>
        <p:nvSpPr>
          <p:cNvPr id="142" name="Shape 138"/>
          <p:cNvSpPr/>
          <p:nvPr/>
        </p:nvSpPr>
        <p:spPr>
          <a:xfrm>
            <a:off x="10524744" y="22466808"/>
            <a:ext cx="9116568" cy="457200"/>
          </a:xfrm>
          <a:prstGeom prst="rect">
            <a:avLst/>
          </a:prstGeom>
          <a:solidFill>
            <a:srgbClr val="FFFFFF"/>
          </a:solidFill>
          <a:ln/>
        </p:spPr>
      </p:sp>
      <p:sp>
        <p:nvSpPr>
          <p:cNvPr id="143" name="Text 139"/>
          <p:cNvSpPr/>
          <p:nvPr/>
        </p:nvSpPr>
        <p:spPr>
          <a:xfrm>
            <a:off x="10597896" y="22485096"/>
            <a:ext cx="8970264" cy="420624"/>
          </a:xfrm>
          <a:prstGeom prst="rect">
            <a:avLst/>
          </a:prstGeom>
          <a:noFill/>
          <a:ln/>
        </p:spPr>
        <p:txBody>
          <a:bodyPr wrap="square" lIns="0" tIns="0" rIns="0" bIns="0" rtlCol="0" anchor="ctr"/>
          <a:lstStyle/>
          <a:p>
            <a:pPr algn="ctr" indent="0" marL="0">
              <a:buNone/>
            </a:pPr>
            <a:r>
              <a:rPr lang="en-US" sz="1250" b="1" dirty="0">
                <a:solidFill>
                  <a:srgbClr val="002D6B"/>
                </a:solidFill>
                <a:latin typeface="Calibri" pitchFamily="34" charset="0"/>
                <a:ea typeface="Calibri" pitchFamily="34" charset="-122"/>
                <a:cs typeface="Calibri" pitchFamily="34" charset="-120"/>
              </a:rPr>
              <a:t>H = − Σ  p̄(y|x) · log p̄(y|x)</a:t>
            </a:r>
            <a:endParaRPr lang="en-US" sz="1250" dirty="0"/>
          </a:p>
        </p:txBody>
      </p:sp>
      <p:sp>
        <p:nvSpPr>
          <p:cNvPr id="144" name="Shape 140"/>
          <p:cNvSpPr/>
          <p:nvPr/>
        </p:nvSpPr>
        <p:spPr>
          <a:xfrm>
            <a:off x="11635740" y="23033736"/>
            <a:ext cx="1508760" cy="777240"/>
          </a:xfrm>
          <a:prstGeom prst="roundRect">
            <a:avLst>
              <a:gd name="adj" fmla="val 5882"/>
            </a:avLst>
          </a:prstGeom>
          <a:solidFill>
            <a:srgbClr val="FFFFFF"/>
          </a:solidFill>
          <a:ln w="9525">
            <a:solidFill>
              <a:srgbClr val="007A78"/>
            </a:solidFill>
            <a:prstDash val="solid"/>
          </a:ln>
        </p:spPr>
      </p:sp>
      <p:sp>
        <p:nvSpPr>
          <p:cNvPr id="145" name="Text 141"/>
          <p:cNvSpPr/>
          <p:nvPr/>
        </p:nvSpPr>
        <p:spPr>
          <a:xfrm>
            <a:off x="11635740" y="23033736"/>
            <a:ext cx="1508760" cy="777240"/>
          </a:xfrm>
          <a:prstGeom prst="rect">
            <a:avLst/>
          </a:prstGeom>
          <a:noFill/>
          <a:ln/>
        </p:spPr>
        <p:txBody>
          <a:bodyPr wrap="square" rtlCol="0" anchor="ctr"/>
          <a:lstStyle/>
          <a:p>
            <a:pPr algn="ctr" indent="0" marL="0">
              <a:buNone/>
            </a:pPr>
            <a:r>
              <a:rPr lang="en-US" sz="1100" b="1" dirty="0">
                <a:solidFill>
                  <a:srgbClr val="007A78"/>
                </a:solidFill>
                <a:latin typeface="Calibri" pitchFamily="34" charset="0"/>
                <a:ea typeface="Calibri" pitchFamily="34" charset="-122"/>
                <a:cs typeface="Calibri" pitchFamily="34" charset="-120"/>
              </a:rPr>
              <a:t>Input</a:t>
            </a:r>
            <a:endParaRPr lang="en-US" sz="1100" dirty="0"/>
          </a:p>
          <a:p>
            <a:pPr algn="ctr" indent="0" marL="0">
              <a:buNone/>
            </a:pPr>
            <a:r>
              <a:rPr lang="en-US" sz="1100" b="1" dirty="0">
                <a:solidFill>
                  <a:srgbClr val="007A78"/>
                </a:solidFill>
                <a:latin typeface="Calibri" pitchFamily="34" charset="0"/>
                <a:ea typeface="Calibri" pitchFamily="34" charset="-122"/>
                <a:cs typeface="Calibri" pitchFamily="34" charset="-120"/>
              </a:rPr>
              <a:t>x</a:t>
            </a:r>
            <a:endParaRPr lang="en-US" sz="1100" dirty="0"/>
          </a:p>
        </p:txBody>
      </p:sp>
      <p:sp>
        <p:nvSpPr>
          <p:cNvPr id="146" name="Shape 142"/>
          <p:cNvSpPr/>
          <p:nvPr/>
        </p:nvSpPr>
        <p:spPr>
          <a:xfrm>
            <a:off x="13171932" y="23422356"/>
            <a:ext cx="201168" cy="0"/>
          </a:xfrm>
          <a:prstGeom prst="line">
            <a:avLst/>
          </a:prstGeom>
          <a:noFill/>
          <a:ln w="25400">
            <a:solidFill>
              <a:srgbClr val="007A78"/>
            </a:solidFill>
            <a:prstDash val="solid"/>
            <a:tailEnd type="triangle"/>
          </a:ln>
        </p:spPr>
      </p:sp>
      <p:sp>
        <p:nvSpPr>
          <p:cNvPr id="147" name="Shape 143"/>
          <p:cNvSpPr/>
          <p:nvPr/>
        </p:nvSpPr>
        <p:spPr>
          <a:xfrm>
            <a:off x="13400532" y="23033736"/>
            <a:ext cx="1508760" cy="777240"/>
          </a:xfrm>
          <a:prstGeom prst="roundRect">
            <a:avLst>
              <a:gd name="adj" fmla="val 5882"/>
            </a:avLst>
          </a:prstGeom>
          <a:solidFill>
            <a:srgbClr val="FFFFFF"/>
          </a:solidFill>
          <a:ln w="9525">
            <a:solidFill>
              <a:srgbClr val="007A78"/>
            </a:solidFill>
            <a:prstDash val="solid"/>
          </a:ln>
        </p:spPr>
      </p:sp>
      <p:sp>
        <p:nvSpPr>
          <p:cNvPr id="148" name="Text 144"/>
          <p:cNvSpPr/>
          <p:nvPr/>
        </p:nvSpPr>
        <p:spPr>
          <a:xfrm>
            <a:off x="13400532" y="23033736"/>
            <a:ext cx="1508760" cy="777240"/>
          </a:xfrm>
          <a:prstGeom prst="rect">
            <a:avLst/>
          </a:prstGeom>
          <a:noFill/>
          <a:ln/>
        </p:spPr>
        <p:txBody>
          <a:bodyPr wrap="square" rtlCol="0" anchor="ctr"/>
          <a:lstStyle/>
          <a:p>
            <a:pPr algn="ctr" indent="0" marL="0">
              <a:buNone/>
            </a:pPr>
            <a:r>
              <a:rPr lang="en-US" sz="1100" b="1" dirty="0">
                <a:solidFill>
                  <a:srgbClr val="007A78"/>
                </a:solidFill>
                <a:latin typeface="Calibri" pitchFamily="34" charset="0"/>
                <a:ea typeface="Calibri" pitchFamily="34" charset="-122"/>
                <a:cs typeface="Calibri" pitchFamily="34" charset="-120"/>
              </a:rPr>
              <a:t>×30 passes</a:t>
            </a:r>
            <a:endParaRPr lang="en-US" sz="1100" dirty="0"/>
          </a:p>
          <a:p>
            <a:pPr algn="ctr" indent="0" marL="0">
              <a:buNone/>
            </a:pPr>
            <a:r>
              <a:rPr lang="en-US" sz="1100" b="1" dirty="0">
                <a:solidFill>
                  <a:srgbClr val="007A78"/>
                </a:solidFill>
                <a:latin typeface="Calibri" pitchFamily="34" charset="0"/>
                <a:ea typeface="Calibri" pitchFamily="34" charset="-122"/>
                <a:cs typeface="Calibri" pitchFamily="34" charset="-120"/>
              </a:rPr>
              <a:t>Dropout ON</a:t>
            </a:r>
            <a:endParaRPr lang="en-US" sz="1100" dirty="0"/>
          </a:p>
        </p:txBody>
      </p:sp>
      <p:sp>
        <p:nvSpPr>
          <p:cNvPr id="149" name="Shape 145"/>
          <p:cNvSpPr/>
          <p:nvPr/>
        </p:nvSpPr>
        <p:spPr>
          <a:xfrm>
            <a:off x="14936724" y="23422356"/>
            <a:ext cx="201168" cy="0"/>
          </a:xfrm>
          <a:prstGeom prst="line">
            <a:avLst/>
          </a:prstGeom>
          <a:noFill/>
          <a:ln w="25400">
            <a:solidFill>
              <a:srgbClr val="007A78"/>
            </a:solidFill>
            <a:prstDash val="solid"/>
            <a:tailEnd type="triangle"/>
          </a:ln>
        </p:spPr>
      </p:sp>
      <p:sp>
        <p:nvSpPr>
          <p:cNvPr id="150" name="Shape 146"/>
          <p:cNvSpPr/>
          <p:nvPr/>
        </p:nvSpPr>
        <p:spPr>
          <a:xfrm>
            <a:off x="15165324" y="23033736"/>
            <a:ext cx="1508760" cy="777240"/>
          </a:xfrm>
          <a:prstGeom prst="roundRect">
            <a:avLst>
              <a:gd name="adj" fmla="val 5882"/>
            </a:avLst>
          </a:prstGeom>
          <a:solidFill>
            <a:srgbClr val="FFFFFF"/>
          </a:solidFill>
          <a:ln w="9525">
            <a:solidFill>
              <a:srgbClr val="007A78"/>
            </a:solidFill>
            <a:prstDash val="solid"/>
          </a:ln>
        </p:spPr>
      </p:sp>
      <p:sp>
        <p:nvSpPr>
          <p:cNvPr id="151" name="Text 147"/>
          <p:cNvSpPr/>
          <p:nvPr/>
        </p:nvSpPr>
        <p:spPr>
          <a:xfrm>
            <a:off x="15165324" y="23033736"/>
            <a:ext cx="1508760" cy="777240"/>
          </a:xfrm>
          <a:prstGeom prst="rect">
            <a:avLst/>
          </a:prstGeom>
          <a:noFill/>
          <a:ln/>
        </p:spPr>
        <p:txBody>
          <a:bodyPr wrap="square" rtlCol="0" anchor="ctr"/>
          <a:lstStyle/>
          <a:p>
            <a:pPr algn="ctr" indent="0" marL="0">
              <a:buNone/>
            </a:pPr>
            <a:r>
              <a:rPr lang="en-US" sz="1100" b="1" dirty="0">
                <a:solidFill>
                  <a:srgbClr val="007A78"/>
                </a:solidFill>
                <a:latin typeface="Calibri" pitchFamily="34" charset="0"/>
                <a:ea typeface="Calibri" pitchFamily="34" charset="-122"/>
                <a:cs typeface="Calibri" pitchFamily="34" charset="-120"/>
              </a:rPr>
              <a:t>Mean</a:t>
            </a:r>
            <a:endParaRPr lang="en-US" sz="1100" dirty="0"/>
          </a:p>
          <a:p>
            <a:pPr algn="ctr" indent="0" marL="0">
              <a:buNone/>
            </a:pPr>
            <a:r>
              <a:rPr lang="en-US" sz="1100" b="1" dirty="0">
                <a:solidFill>
                  <a:srgbClr val="007A78"/>
                </a:solidFill>
                <a:latin typeface="Calibri" pitchFamily="34" charset="0"/>
                <a:ea typeface="Calibri" pitchFamily="34" charset="-122"/>
                <a:cs typeface="Calibri" pitchFamily="34" charset="-120"/>
              </a:rPr>
              <a:t>p̄(y|x)</a:t>
            </a:r>
            <a:endParaRPr lang="en-US" sz="1100" dirty="0"/>
          </a:p>
        </p:txBody>
      </p:sp>
      <p:sp>
        <p:nvSpPr>
          <p:cNvPr id="152" name="Shape 148"/>
          <p:cNvSpPr/>
          <p:nvPr/>
        </p:nvSpPr>
        <p:spPr>
          <a:xfrm>
            <a:off x="16701516" y="23422356"/>
            <a:ext cx="201168" cy="0"/>
          </a:xfrm>
          <a:prstGeom prst="line">
            <a:avLst/>
          </a:prstGeom>
          <a:noFill/>
          <a:ln w="25400">
            <a:solidFill>
              <a:srgbClr val="007A78"/>
            </a:solidFill>
            <a:prstDash val="solid"/>
            <a:tailEnd type="triangle"/>
          </a:ln>
        </p:spPr>
      </p:sp>
      <p:sp>
        <p:nvSpPr>
          <p:cNvPr id="153" name="Shape 149"/>
          <p:cNvSpPr/>
          <p:nvPr/>
        </p:nvSpPr>
        <p:spPr>
          <a:xfrm>
            <a:off x="16930116" y="23033736"/>
            <a:ext cx="1508760" cy="777240"/>
          </a:xfrm>
          <a:prstGeom prst="roundRect">
            <a:avLst>
              <a:gd name="adj" fmla="val 5882"/>
            </a:avLst>
          </a:prstGeom>
          <a:solidFill>
            <a:srgbClr val="FFFFFF"/>
          </a:solidFill>
          <a:ln w="9525">
            <a:solidFill>
              <a:srgbClr val="007A78"/>
            </a:solidFill>
            <a:prstDash val="solid"/>
          </a:ln>
        </p:spPr>
      </p:sp>
      <p:sp>
        <p:nvSpPr>
          <p:cNvPr id="154" name="Text 150"/>
          <p:cNvSpPr/>
          <p:nvPr/>
        </p:nvSpPr>
        <p:spPr>
          <a:xfrm>
            <a:off x="16930116" y="23033736"/>
            <a:ext cx="1508760" cy="777240"/>
          </a:xfrm>
          <a:prstGeom prst="rect">
            <a:avLst/>
          </a:prstGeom>
          <a:noFill/>
          <a:ln/>
        </p:spPr>
        <p:txBody>
          <a:bodyPr wrap="square" rtlCol="0" anchor="ctr"/>
          <a:lstStyle/>
          <a:p>
            <a:pPr algn="ctr" indent="0" marL="0">
              <a:buNone/>
            </a:pPr>
            <a:r>
              <a:rPr lang="en-US" sz="1100" b="1" dirty="0">
                <a:solidFill>
                  <a:srgbClr val="007A78"/>
                </a:solidFill>
                <a:latin typeface="Calibri" pitchFamily="34" charset="0"/>
                <a:ea typeface="Calibri" pitchFamily="34" charset="-122"/>
                <a:cs typeface="Calibri" pitchFamily="34" charset="-120"/>
              </a:rPr>
              <a:t>Entropy</a:t>
            </a:r>
            <a:endParaRPr lang="en-US" sz="1100" dirty="0"/>
          </a:p>
          <a:p>
            <a:pPr algn="ctr" indent="0" marL="0">
              <a:buNone/>
            </a:pPr>
            <a:r>
              <a:rPr lang="en-US" sz="1100" b="1" dirty="0">
                <a:solidFill>
                  <a:srgbClr val="007A78"/>
                </a:solidFill>
                <a:latin typeface="Calibri" pitchFamily="34" charset="0"/>
                <a:ea typeface="Calibri" pitchFamily="34" charset="-122"/>
                <a:cs typeface="Calibri" pitchFamily="34" charset="-120"/>
              </a:rPr>
              <a:t>H(x)</a:t>
            </a:r>
            <a:endParaRPr lang="en-US" sz="1100" dirty="0"/>
          </a:p>
        </p:txBody>
      </p:sp>
      <p:sp>
        <p:nvSpPr>
          <p:cNvPr id="155" name="Shape 151"/>
          <p:cNvSpPr/>
          <p:nvPr/>
        </p:nvSpPr>
        <p:spPr>
          <a:xfrm>
            <a:off x="10524744" y="23975568"/>
            <a:ext cx="4439412" cy="585216"/>
          </a:xfrm>
          <a:prstGeom prst="rect">
            <a:avLst/>
          </a:prstGeom>
          <a:solidFill>
            <a:srgbClr val="E0F5F2"/>
          </a:solidFill>
          <a:ln w="6350">
            <a:solidFill>
              <a:srgbClr val="007A78"/>
            </a:solidFill>
            <a:prstDash val="solid"/>
          </a:ln>
        </p:spPr>
      </p:sp>
      <p:sp>
        <p:nvSpPr>
          <p:cNvPr id="156" name="Text 152"/>
          <p:cNvSpPr/>
          <p:nvPr/>
        </p:nvSpPr>
        <p:spPr>
          <a:xfrm>
            <a:off x="10597896" y="24048720"/>
            <a:ext cx="4206240" cy="438912"/>
          </a:xfrm>
          <a:prstGeom prst="rect">
            <a:avLst/>
          </a:prstGeom>
          <a:noFill/>
          <a:ln/>
        </p:spPr>
        <p:txBody>
          <a:bodyPr wrap="square" lIns="38100" tIns="38100" rIns="38100" bIns="38100" rtlCol="0" anchor="t"/>
          <a:lstStyle/>
          <a:p>
            <a:pPr algn="l" indent="0" marL="0">
              <a:buNone/>
            </a:pPr>
            <a:r>
              <a:rPr lang="en-US" sz="1150" dirty="0">
                <a:solidFill>
                  <a:srgbClr val="007A78"/>
                </a:solidFill>
                <a:latin typeface="Calibri" pitchFamily="34" charset="0"/>
                <a:ea typeface="Calibri" pitchFamily="34" charset="-122"/>
                <a:cs typeface="Calibri" pitchFamily="34" charset="-120"/>
              </a:rPr>
              <a:t>IND: H≈0.034  lower entropy → certain</a:t>
            </a:r>
            <a:endParaRPr lang="en-US" sz="1150" dirty="0"/>
          </a:p>
        </p:txBody>
      </p:sp>
      <p:sp>
        <p:nvSpPr>
          <p:cNvPr id="157" name="Shape 153"/>
          <p:cNvSpPr/>
          <p:nvPr/>
        </p:nvSpPr>
        <p:spPr>
          <a:xfrm>
            <a:off x="14964156" y="23975568"/>
            <a:ext cx="4439412" cy="585216"/>
          </a:xfrm>
          <a:prstGeom prst="rect">
            <a:avLst/>
          </a:prstGeom>
          <a:solidFill>
            <a:srgbClr val="FFF0F0"/>
          </a:solidFill>
          <a:ln w="6350">
            <a:solidFill>
              <a:srgbClr val="B91C1C"/>
            </a:solidFill>
            <a:prstDash val="solid"/>
          </a:ln>
        </p:spPr>
      </p:sp>
      <p:sp>
        <p:nvSpPr>
          <p:cNvPr id="158" name="Text 154"/>
          <p:cNvSpPr/>
          <p:nvPr/>
        </p:nvSpPr>
        <p:spPr>
          <a:xfrm>
            <a:off x="15037308" y="24048720"/>
            <a:ext cx="4206240" cy="438912"/>
          </a:xfrm>
          <a:prstGeom prst="rect">
            <a:avLst/>
          </a:prstGeom>
          <a:noFill/>
          <a:ln/>
        </p:spPr>
        <p:txBody>
          <a:bodyPr wrap="square" lIns="38100" tIns="38100" rIns="38100" bIns="38100" rtlCol="0" anchor="t"/>
          <a:lstStyle/>
          <a:p>
            <a:pPr algn="l" indent="0" marL="0">
              <a:buNone/>
            </a:pPr>
            <a:r>
              <a:rPr lang="en-US" sz="1150" dirty="0">
                <a:solidFill>
                  <a:srgbClr val="B91C1C"/>
                </a:solidFill>
                <a:latin typeface="Calibri" pitchFamily="34" charset="0"/>
                <a:ea typeface="Calibri" pitchFamily="34" charset="-122"/>
                <a:cs typeface="Calibri" pitchFamily="34" charset="-120"/>
              </a:rPr>
              <a:t>OOD: H≈0.347  higher entropy → uncertain</a:t>
            </a:r>
            <a:endParaRPr lang="en-US" sz="1150" dirty="0"/>
          </a:p>
        </p:txBody>
      </p:sp>
      <p:sp>
        <p:nvSpPr>
          <p:cNvPr id="159" name="Shape 155"/>
          <p:cNvSpPr/>
          <p:nvPr/>
        </p:nvSpPr>
        <p:spPr>
          <a:xfrm>
            <a:off x="10250424" y="25968960"/>
            <a:ext cx="9573768" cy="0"/>
          </a:xfrm>
          <a:prstGeom prst="line">
            <a:avLst/>
          </a:prstGeom>
          <a:noFill/>
          <a:ln w="9525">
            <a:solidFill>
              <a:srgbClr val="CCCCCC"/>
            </a:solidFill>
            <a:prstDash val="solid"/>
          </a:ln>
        </p:spPr>
      </p:sp>
      <p:sp>
        <p:nvSpPr>
          <p:cNvPr id="160" name="Shape 156"/>
          <p:cNvSpPr/>
          <p:nvPr/>
        </p:nvSpPr>
        <p:spPr>
          <a:xfrm>
            <a:off x="10250424" y="26060400"/>
            <a:ext cx="9573768" cy="3383280"/>
          </a:xfrm>
          <a:prstGeom prst="rect">
            <a:avLst/>
          </a:prstGeom>
          <a:solidFill>
            <a:srgbClr val="F5F7FA"/>
          </a:solidFill>
          <a:ln/>
        </p:spPr>
      </p:sp>
      <p:sp>
        <p:nvSpPr>
          <p:cNvPr id="161" name="Shape 157"/>
          <p:cNvSpPr/>
          <p:nvPr/>
        </p:nvSpPr>
        <p:spPr>
          <a:xfrm>
            <a:off x="10250424" y="26060400"/>
            <a:ext cx="182880" cy="3383280"/>
          </a:xfrm>
          <a:prstGeom prst="rect">
            <a:avLst/>
          </a:prstGeom>
          <a:solidFill>
            <a:srgbClr val="166534"/>
          </a:solidFill>
          <a:ln/>
        </p:spPr>
      </p:sp>
      <p:sp>
        <p:nvSpPr>
          <p:cNvPr id="162" name="Shape 158"/>
          <p:cNvSpPr/>
          <p:nvPr/>
        </p:nvSpPr>
        <p:spPr>
          <a:xfrm>
            <a:off x="18251424" y="26151840"/>
            <a:ext cx="1444752" cy="365760"/>
          </a:xfrm>
          <a:prstGeom prst="roundRect">
            <a:avLst>
              <a:gd name="adj" fmla="val 10000"/>
            </a:avLst>
          </a:prstGeom>
          <a:solidFill>
            <a:srgbClr val="166534"/>
          </a:solidFill>
          <a:ln w="9525">
            <a:solidFill>
              <a:srgbClr val="166534"/>
            </a:solidFill>
            <a:prstDash val="solid"/>
          </a:ln>
        </p:spPr>
      </p:sp>
      <p:sp>
        <p:nvSpPr>
          <p:cNvPr id="163" name="Text 159"/>
          <p:cNvSpPr/>
          <p:nvPr/>
        </p:nvSpPr>
        <p:spPr>
          <a:xfrm>
            <a:off x="18269712" y="26170128"/>
            <a:ext cx="1417320" cy="32918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Best ECE ★</a:t>
            </a:r>
            <a:endParaRPr lang="en-US" sz="1100" dirty="0"/>
          </a:p>
        </p:txBody>
      </p:sp>
      <p:sp>
        <p:nvSpPr>
          <p:cNvPr id="164" name="Text 160"/>
          <p:cNvSpPr/>
          <p:nvPr/>
        </p:nvSpPr>
        <p:spPr>
          <a:xfrm>
            <a:off x="10524744" y="26151840"/>
            <a:ext cx="7653528" cy="402336"/>
          </a:xfrm>
          <a:prstGeom prst="rect">
            <a:avLst/>
          </a:prstGeom>
          <a:noFill/>
          <a:ln/>
        </p:spPr>
        <p:txBody>
          <a:bodyPr wrap="square" lIns="38100" tIns="38100" rIns="38100" bIns="38100" rtlCol="0" anchor="t"/>
          <a:lstStyle/>
          <a:p>
            <a:pPr algn="l" indent="0" marL="0">
              <a:buNone/>
            </a:pPr>
            <a:r>
              <a:rPr lang="en-US" sz="1300" b="1" dirty="0">
                <a:solidFill>
                  <a:srgbClr val="166534"/>
                </a:solidFill>
                <a:latin typeface="Calibri" pitchFamily="34" charset="0"/>
                <a:ea typeface="Calibri" pitchFamily="34" charset="-122"/>
                <a:cs typeface="Calibri" pitchFamily="34" charset="-120"/>
              </a:rPr>
              <a:t>③ Temperature Scaling  (T = 1.282)</a:t>
            </a:r>
            <a:endParaRPr lang="en-US" sz="1300" dirty="0"/>
          </a:p>
        </p:txBody>
      </p:sp>
      <p:sp>
        <p:nvSpPr>
          <p:cNvPr id="165" name="Shape 161"/>
          <p:cNvSpPr/>
          <p:nvPr/>
        </p:nvSpPr>
        <p:spPr>
          <a:xfrm>
            <a:off x="10524744" y="26609040"/>
            <a:ext cx="9116568" cy="457200"/>
          </a:xfrm>
          <a:prstGeom prst="rect">
            <a:avLst/>
          </a:prstGeom>
          <a:solidFill>
            <a:srgbClr val="FFFFFF"/>
          </a:solidFill>
          <a:ln/>
        </p:spPr>
      </p:sp>
      <p:sp>
        <p:nvSpPr>
          <p:cNvPr id="166" name="Text 162"/>
          <p:cNvSpPr/>
          <p:nvPr/>
        </p:nvSpPr>
        <p:spPr>
          <a:xfrm>
            <a:off x="10597896" y="26627328"/>
            <a:ext cx="8970264" cy="420624"/>
          </a:xfrm>
          <a:prstGeom prst="rect">
            <a:avLst/>
          </a:prstGeom>
          <a:noFill/>
          <a:ln/>
        </p:spPr>
        <p:txBody>
          <a:bodyPr wrap="square" lIns="0" tIns="0" rIns="0" bIns="0" rtlCol="0" anchor="ctr"/>
          <a:lstStyle/>
          <a:p>
            <a:pPr algn="ctr" indent="0" marL="0">
              <a:buNone/>
            </a:pPr>
            <a:r>
              <a:rPr lang="en-US" sz="1250" b="1" dirty="0">
                <a:solidFill>
                  <a:srgbClr val="002D6B"/>
                </a:solidFill>
                <a:latin typeface="Calibri" pitchFamily="34" charset="0"/>
                <a:ea typeface="Calibri" pitchFamily="34" charset="-122"/>
                <a:cs typeface="Calibri" pitchFamily="34" charset="-120"/>
              </a:rPr>
              <a:t>p̂(y|x) = softmax( z / T )    T fitted on val set</a:t>
            </a:r>
            <a:endParaRPr lang="en-US" sz="1250" dirty="0"/>
          </a:p>
        </p:txBody>
      </p:sp>
      <p:sp>
        <p:nvSpPr>
          <p:cNvPr id="167" name="Shape 163"/>
          <p:cNvSpPr/>
          <p:nvPr/>
        </p:nvSpPr>
        <p:spPr>
          <a:xfrm>
            <a:off x="12518136" y="27175968"/>
            <a:ext cx="1508760" cy="777240"/>
          </a:xfrm>
          <a:prstGeom prst="roundRect">
            <a:avLst>
              <a:gd name="adj" fmla="val 5882"/>
            </a:avLst>
          </a:prstGeom>
          <a:solidFill>
            <a:srgbClr val="FFFFFF"/>
          </a:solidFill>
          <a:ln w="9525">
            <a:solidFill>
              <a:srgbClr val="166534"/>
            </a:solidFill>
            <a:prstDash val="solid"/>
          </a:ln>
        </p:spPr>
      </p:sp>
      <p:sp>
        <p:nvSpPr>
          <p:cNvPr id="168" name="Text 164"/>
          <p:cNvSpPr/>
          <p:nvPr/>
        </p:nvSpPr>
        <p:spPr>
          <a:xfrm>
            <a:off x="12518136" y="27175968"/>
            <a:ext cx="1508760" cy="777240"/>
          </a:xfrm>
          <a:prstGeom prst="rect">
            <a:avLst/>
          </a:prstGeom>
          <a:noFill/>
          <a:ln/>
        </p:spPr>
        <p:txBody>
          <a:bodyPr wrap="square" rtlCol="0" anchor="ctr"/>
          <a:lstStyle/>
          <a:p>
            <a:pPr algn="ctr" indent="0" marL="0">
              <a:buNone/>
            </a:pPr>
            <a:r>
              <a:rPr lang="en-US" sz="1100" b="1" dirty="0">
                <a:solidFill>
                  <a:srgbClr val="166534"/>
                </a:solidFill>
                <a:latin typeface="Calibri" pitchFamily="34" charset="0"/>
                <a:ea typeface="Calibri" pitchFamily="34" charset="-122"/>
                <a:cs typeface="Calibri" pitchFamily="34" charset="-120"/>
              </a:rPr>
              <a:t>Logits</a:t>
            </a:r>
            <a:endParaRPr lang="en-US" sz="1100" dirty="0"/>
          </a:p>
          <a:p>
            <a:pPr algn="ctr" indent="0" marL="0">
              <a:buNone/>
            </a:pPr>
            <a:r>
              <a:rPr lang="en-US" sz="1100" b="1" dirty="0">
                <a:solidFill>
                  <a:srgbClr val="166534"/>
                </a:solidFill>
                <a:latin typeface="Calibri" pitchFamily="34" charset="0"/>
                <a:ea typeface="Calibri" pitchFamily="34" charset="-122"/>
                <a:cs typeface="Calibri" pitchFamily="34" charset="-120"/>
              </a:rPr>
              <a:t>z</a:t>
            </a:r>
            <a:endParaRPr lang="en-US" sz="1100" dirty="0"/>
          </a:p>
        </p:txBody>
      </p:sp>
      <p:sp>
        <p:nvSpPr>
          <p:cNvPr id="169" name="Shape 165"/>
          <p:cNvSpPr/>
          <p:nvPr/>
        </p:nvSpPr>
        <p:spPr>
          <a:xfrm>
            <a:off x="14054328" y="27564588"/>
            <a:ext cx="201168" cy="0"/>
          </a:xfrm>
          <a:prstGeom prst="line">
            <a:avLst/>
          </a:prstGeom>
          <a:noFill/>
          <a:ln w="25400">
            <a:solidFill>
              <a:srgbClr val="007A78"/>
            </a:solidFill>
            <a:prstDash val="solid"/>
            <a:tailEnd type="triangle"/>
          </a:ln>
        </p:spPr>
      </p:sp>
      <p:sp>
        <p:nvSpPr>
          <p:cNvPr id="170" name="Shape 166"/>
          <p:cNvSpPr/>
          <p:nvPr/>
        </p:nvSpPr>
        <p:spPr>
          <a:xfrm>
            <a:off x="14282928" y="27175968"/>
            <a:ext cx="1508760" cy="777240"/>
          </a:xfrm>
          <a:prstGeom prst="roundRect">
            <a:avLst>
              <a:gd name="adj" fmla="val 5882"/>
            </a:avLst>
          </a:prstGeom>
          <a:solidFill>
            <a:srgbClr val="FFFFFF"/>
          </a:solidFill>
          <a:ln w="9525">
            <a:solidFill>
              <a:srgbClr val="166534"/>
            </a:solidFill>
            <a:prstDash val="solid"/>
          </a:ln>
        </p:spPr>
      </p:sp>
      <p:sp>
        <p:nvSpPr>
          <p:cNvPr id="171" name="Text 167"/>
          <p:cNvSpPr/>
          <p:nvPr/>
        </p:nvSpPr>
        <p:spPr>
          <a:xfrm>
            <a:off x="14282928" y="27175968"/>
            <a:ext cx="1508760" cy="777240"/>
          </a:xfrm>
          <a:prstGeom prst="rect">
            <a:avLst/>
          </a:prstGeom>
          <a:noFill/>
          <a:ln/>
        </p:spPr>
        <p:txBody>
          <a:bodyPr wrap="square" rtlCol="0" anchor="ctr"/>
          <a:lstStyle/>
          <a:p>
            <a:pPr algn="ctr" indent="0" marL="0">
              <a:buNone/>
            </a:pPr>
            <a:r>
              <a:rPr lang="en-US" sz="1100" b="1" dirty="0">
                <a:solidFill>
                  <a:srgbClr val="166534"/>
                </a:solidFill>
                <a:latin typeface="Calibri" pitchFamily="34" charset="0"/>
                <a:ea typeface="Calibri" pitchFamily="34" charset="-122"/>
                <a:cs typeface="Calibri" pitchFamily="34" charset="-120"/>
              </a:rPr>
              <a:t>÷ T</a:t>
            </a:r>
            <a:endParaRPr lang="en-US" sz="1100" dirty="0"/>
          </a:p>
          <a:p>
            <a:pPr algn="ctr" indent="0" marL="0">
              <a:buNone/>
            </a:pPr>
            <a:r>
              <a:rPr lang="en-US" sz="1100" b="1" dirty="0">
                <a:solidFill>
                  <a:srgbClr val="166534"/>
                </a:solidFill>
                <a:latin typeface="Calibri" pitchFamily="34" charset="0"/>
                <a:ea typeface="Calibri" pitchFamily="34" charset="-122"/>
                <a:cs typeface="Calibri" pitchFamily="34" charset="-120"/>
              </a:rPr>
              <a:t>1.282</a:t>
            </a:r>
            <a:endParaRPr lang="en-US" sz="1100" dirty="0"/>
          </a:p>
        </p:txBody>
      </p:sp>
      <p:sp>
        <p:nvSpPr>
          <p:cNvPr id="172" name="Shape 168"/>
          <p:cNvSpPr/>
          <p:nvPr/>
        </p:nvSpPr>
        <p:spPr>
          <a:xfrm>
            <a:off x="15819120" y="27564588"/>
            <a:ext cx="201168" cy="0"/>
          </a:xfrm>
          <a:prstGeom prst="line">
            <a:avLst/>
          </a:prstGeom>
          <a:noFill/>
          <a:ln w="25400">
            <a:solidFill>
              <a:srgbClr val="007A78"/>
            </a:solidFill>
            <a:prstDash val="solid"/>
            <a:tailEnd type="triangle"/>
          </a:ln>
        </p:spPr>
      </p:sp>
      <p:sp>
        <p:nvSpPr>
          <p:cNvPr id="173" name="Shape 169"/>
          <p:cNvSpPr/>
          <p:nvPr/>
        </p:nvSpPr>
        <p:spPr>
          <a:xfrm>
            <a:off x="16047720" y="27175968"/>
            <a:ext cx="1508760" cy="777240"/>
          </a:xfrm>
          <a:prstGeom prst="roundRect">
            <a:avLst>
              <a:gd name="adj" fmla="val 5882"/>
            </a:avLst>
          </a:prstGeom>
          <a:solidFill>
            <a:srgbClr val="FFFFFF"/>
          </a:solidFill>
          <a:ln w="9525">
            <a:solidFill>
              <a:srgbClr val="166534"/>
            </a:solidFill>
            <a:prstDash val="solid"/>
          </a:ln>
        </p:spPr>
      </p:sp>
      <p:sp>
        <p:nvSpPr>
          <p:cNvPr id="174" name="Text 170"/>
          <p:cNvSpPr/>
          <p:nvPr/>
        </p:nvSpPr>
        <p:spPr>
          <a:xfrm>
            <a:off x="16047720" y="27175968"/>
            <a:ext cx="1508760" cy="777240"/>
          </a:xfrm>
          <a:prstGeom prst="rect">
            <a:avLst/>
          </a:prstGeom>
          <a:noFill/>
          <a:ln/>
        </p:spPr>
        <p:txBody>
          <a:bodyPr wrap="square" rtlCol="0" anchor="ctr"/>
          <a:lstStyle/>
          <a:p>
            <a:pPr algn="ctr" indent="0" marL="0">
              <a:buNone/>
            </a:pPr>
            <a:r>
              <a:rPr lang="en-US" sz="1100" b="1" dirty="0">
                <a:solidFill>
                  <a:srgbClr val="166534"/>
                </a:solidFill>
                <a:latin typeface="Calibri" pitchFamily="34" charset="0"/>
                <a:ea typeface="Calibri" pitchFamily="34" charset="-122"/>
                <a:cs typeface="Calibri" pitchFamily="34" charset="-120"/>
              </a:rPr>
              <a:t>Calibrated</a:t>
            </a:r>
            <a:endParaRPr lang="en-US" sz="1100" dirty="0"/>
          </a:p>
          <a:p>
            <a:pPr algn="ctr" indent="0" marL="0">
              <a:buNone/>
            </a:pPr>
            <a:r>
              <a:rPr lang="en-US" sz="1100" b="1" dirty="0">
                <a:solidFill>
                  <a:srgbClr val="166534"/>
                </a:solidFill>
                <a:latin typeface="Calibri" pitchFamily="34" charset="0"/>
                <a:ea typeface="Calibri" pitchFamily="34" charset="-122"/>
                <a:cs typeface="Calibri" pitchFamily="34" charset="-120"/>
              </a:rPr>
              <a:t>softmax</a:t>
            </a:r>
            <a:endParaRPr lang="en-US" sz="1100" dirty="0"/>
          </a:p>
        </p:txBody>
      </p:sp>
      <p:sp>
        <p:nvSpPr>
          <p:cNvPr id="175" name="Shape 171"/>
          <p:cNvSpPr/>
          <p:nvPr/>
        </p:nvSpPr>
        <p:spPr>
          <a:xfrm>
            <a:off x="10524744" y="28117800"/>
            <a:ext cx="4439412" cy="493776"/>
          </a:xfrm>
          <a:prstGeom prst="rect">
            <a:avLst/>
          </a:prstGeom>
          <a:solidFill>
            <a:srgbClr val="FFF0F0"/>
          </a:solidFill>
          <a:ln w="6350">
            <a:solidFill>
              <a:srgbClr val="B91C1C"/>
            </a:solidFill>
            <a:prstDash val="solid"/>
          </a:ln>
        </p:spPr>
      </p:sp>
      <p:sp>
        <p:nvSpPr>
          <p:cNvPr id="176" name="Text 172"/>
          <p:cNvSpPr/>
          <p:nvPr/>
        </p:nvSpPr>
        <p:spPr>
          <a:xfrm>
            <a:off x="10597896" y="28172664"/>
            <a:ext cx="4206240" cy="384048"/>
          </a:xfrm>
          <a:prstGeom prst="rect">
            <a:avLst/>
          </a:prstGeom>
          <a:noFill/>
          <a:ln/>
        </p:spPr>
        <p:txBody>
          <a:bodyPr wrap="square" lIns="38100" tIns="38100" rIns="38100" bIns="38100" rtlCol="0" anchor="t"/>
          <a:lstStyle/>
          <a:p>
            <a:pPr algn="l" indent="0" marL="0">
              <a:buNone/>
            </a:pPr>
            <a:r>
              <a:rPr lang="en-US" sz="1100" dirty="0">
                <a:solidFill>
                  <a:srgbClr val="B91C1C"/>
                </a:solidFill>
                <a:latin typeface="Calibri" pitchFamily="34" charset="0"/>
                <a:ea typeface="Calibri" pitchFamily="34" charset="-122"/>
                <a:cs typeface="Calibri" pitchFamily="34" charset="-120"/>
              </a:rPr>
              <a:t>Before: overconfident (conf &gt; acc)</a:t>
            </a:r>
            <a:endParaRPr lang="en-US" sz="1100" dirty="0"/>
          </a:p>
        </p:txBody>
      </p:sp>
      <p:sp>
        <p:nvSpPr>
          <p:cNvPr id="177" name="Shape 173"/>
          <p:cNvSpPr/>
          <p:nvPr/>
        </p:nvSpPr>
        <p:spPr>
          <a:xfrm>
            <a:off x="14964156" y="28117800"/>
            <a:ext cx="4439412" cy="493776"/>
          </a:xfrm>
          <a:prstGeom prst="rect">
            <a:avLst/>
          </a:prstGeom>
          <a:solidFill>
            <a:srgbClr val="E0F4EA"/>
          </a:solidFill>
          <a:ln w="6350">
            <a:solidFill>
              <a:srgbClr val="166534"/>
            </a:solidFill>
            <a:prstDash val="solid"/>
          </a:ln>
        </p:spPr>
      </p:sp>
      <p:sp>
        <p:nvSpPr>
          <p:cNvPr id="178" name="Text 174"/>
          <p:cNvSpPr/>
          <p:nvPr/>
        </p:nvSpPr>
        <p:spPr>
          <a:xfrm>
            <a:off x="15037308" y="28172664"/>
            <a:ext cx="4206240" cy="384048"/>
          </a:xfrm>
          <a:prstGeom prst="rect">
            <a:avLst/>
          </a:prstGeom>
          <a:noFill/>
          <a:ln/>
        </p:spPr>
        <p:txBody>
          <a:bodyPr wrap="square" lIns="38100" tIns="38100" rIns="38100" bIns="38100" rtlCol="0" anchor="t"/>
          <a:lstStyle/>
          <a:p>
            <a:pPr algn="l" indent="0" marL="0">
              <a:buNone/>
            </a:pPr>
            <a:r>
              <a:rPr lang="en-US" sz="1100" dirty="0">
                <a:solidFill>
                  <a:srgbClr val="166534"/>
                </a:solidFill>
                <a:latin typeface="Calibri" pitchFamily="34" charset="0"/>
                <a:ea typeface="Calibri" pitchFamily="34" charset="-122"/>
                <a:cs typeface="Calibri" pitchFamily="34" charset="-120"/>
              </a:rPr>
              <a:t>After: calibrated (conf ≈ acc)</a:t>
            </a:r>
            <a:endParaRPr lang="en-US" sz="1100" dirty="0"/>
          </a:p>
        </p:txBody>
      </p:sp>
      <p:sp>
        <p:nvSpPr>
          <p:cNvPr id="179" name="Shape 175"/>
          <p:cNvSpPr/>
          <p:nvPr/>
        </p:nvSpPr>
        <p:spPr>
          <a:xfrm>
            <a:off x="10250424" y="29562552"/>
            <a:ext cx="9573768" cy="0"/>
          </a:xfrm>
          <a:prstGeom prst="line">
            <a:avLst/>
          </a:prstGeom>
          <a:noFill/>
          <a:ln w="9525">
            <a:solidFill>
              <a:srgbClr val="CCCCCC"/>
            </a:solidFill>
            <a:prstDash val="solid"/>
          </a:ln>
        </p:spPr>
      </p:sp>
      <p:sp>
        <p:nvSpPr>
          <p:cNvPr id="180" name="Shape 176"/>
          <p:cNvSpPr/>
          <p:nvPr/>
        </p:nvSpPr>
        <p:spPr>
          <a:xfrm>
            <a:off x="10250424" y="29653992"/>
            <a:ext cx="9573768" cy="603504"/>
          </a:xfrm>
          <a:prstGeom prst="rect">
            <a:avLst/>
          </a:prstGeom>
          <a:solidFill>
            <a:srgbClr val="E8EFF8"/>
          </a:solidFill>
          <a:ln/>
        </p:spPr>
      </p:sp>
      <p:sp>
        <p:nvSpPr>
          <p:cNvPr id="181" name="Text 177"/>
          <p:cNvSpPr/>
          <p:nvPr/>
        </p:nvSpPr>
        <p:spPr>
          <a:xfrm>
            <a:off x="10387584" y="29653992"/>
            <a:ext cx="9299448" cy="603504"/>
          </a:xfrm>
          <a:prstGeom prst="rect">
            <a:avLst/>
          </a:prstGeom>
          <a:noFill/>
          <a:ln/>
        </p:spPr>
        <p:txBody>
          <a:bodyPr wrap="square" lIns="38100" tIns="38100" rIns="38100" bIns="38100" rtlCol="0" anchor="t"/>
          <a:lstStyle/>
          <a:p>
            <a:pPr algn="l" indent="0" marL="0">
              <a:buNone/>
            </a:pPr>
            <a:r>
              <a:rPr lang="en-US" sz="1200" dirty="0">
                <a:solidFill>
                  <a:srgbClr val="111111"/>
                </a:solidFill>
                <a:latin typeface="Calibri" pitchFamily="34" charset="0"/>
                <a:ea typeface="Calibri" pitchFamily="34" charset="-122"/>
                <a:cs typeface="Calibri" pitchFamily="34" charset="-120"/>
              </a:rPr>
              <a:t xml:space="preserve">Training: </a:t>
            </a:r>
            <a:pPr algn="l" indent="0" marL="0">
              <a:buNone/>
            </a:pPr>
            <a:r>
              <a:rPr lang="en-US" sz="1200" dirty="0">
                <a:solidFill>
                  <a:srgbClr val="111111"/>
                </a:solidFill>
                <a:latin typeface="Calibri" pitchFamily="34" charset="0"/>
                <a:ea typeface="Calibri" pitchFamily="34" charset="-122"/>
                <a:cs typeface="Calibri" pitchFamily="34" charset="-120"/>
              </a:rPr>
              <a:t>Adam lr=1e-3 · CosineAnnealingLR · 80 epochs · batch=256 · gradient clip 1.0 · 60/20/20 split</a:t>
            </a:r>
            <a:endParaRPr lang="en-US" sz="1200" dirty="0"/>
          </a:p>
        </p:txBody>
      </p:sp>
      <p:sp>
        <p:nvSpPr>
          <p:cNvPr id="182" name="Shape 178"/>
          <p:cNvSpPr/>
          <p:nvPr/>
        </p:nvSpPr>
        <p:spPr>
          <a:xfrm>
            <a:off x="20153376" y="4251960"/>
            <a:ext cx="9573768" cy="493776"/>
          </a:xfrm>
          <a:prstGeom prst="rect">
            <a:avLst/>
          </a:prstGeom>
          <a:solidFill>
            <a:srgbClr val="004B9B"/>
          </a:solidFill>
          <a:ln/>
        </p:spPr>
      </p:sp>
      <p:sp>
        <p:nvSpPr>
          <p:cNvPr id="183" name="Text 179"/>
          <p:cNvSpPr/>
          <p:nvPr/>
        </p:nvSpPr>
        <p:spPr>
          <a:xfrm>
            <a:off x="20290536" y="4297680"/>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③ Results</a:t>
            </a:r>
            <a:endParaRPr lang="en-US" sz="1400" dirty="0"/>
          </a:p>
        </p:txBody>
      </p:sp>
      <p:sp>
        <p:nvSpPr>
          <p:cNvPr id="184" name="Text 180"/>
          <p:cNvSpPr/>
          <p:nvPr/>
        </p:nvSpPr>
        <p:spPr>
          <a:xfrm>
            <a:off x="20153376" y="4818888"/>
            <a:ext cx="9573768" cy="347472"/>
          </a:xfrm>
          <a:prstGeom prst="rect">
            <a:avLst/>
          </a:prstGeom>
          <a:noFill/>
          <a:ln/>
        </p:spPr>
        <p:txBody>
          <a:bodyPr wrap="square" lIns="38100" tIns="38100" rIns="38100" bIns="38100" rtlCol="0" anchor="t"/>
          <a:lstStyle/>
          <a:p>
            <a:pPr algn="l" indent="0" marL="0">
              <a:buNone/>
            </a:pPr>
            <a:r>
              <a:rPr lang="en-US" sz="1300" b="1" dirty="0">
                <a:solidFill>
                  <a:srgbClr val="002D6B"/>
                </a:solidFill>
                <a:latin typeface="Calibri" pitchFamily="34" charset="0"/>
                <a:ea typeface="Calibri" pitchFamily="34" charset="-122"/>
                <a:cs typeface="Calibri" pitchFamily="34" charset="-120"/>
              </a:rPr>
              <a:t>Reliability Diagrams — Confidence vs. Accuracy (4 methods)</a:t>
            </a:r>
            <a:endParaRPr lang="en-US" sz="1300" dirty="0"/>
          </a:p>
        </p:txBody>
      </p:sp>
      <p:pic>
        <p:nvPicPr>
          <p:cNvPr id="185" name="Image Reliability" descr="Reliability Diagrams"/>
          <p:cNvPicPr>
            <a:picLocks noChangeAspect="1"/>
          </p:cNvPicPr>
          <p:nvPr/>
        </p:nvPicPr>
        <p:blipFill>
          <a:blip r:embed="rId7"/>
          <a:stretch>
            <a:fillRect/>
          </a:stretch>
        </p:blipFill>
        <p:spPr>
          <a:xfrm>
            <a:off x="20290536" y="5854165"/>
            <a:ext cx="9299448" cy="2574598"/>
          </a:xfrm>
          <a:prstGeom prst="rect">
            <a:avLst/>
          </a:prstGeom>
        </p:spPr>
      </p:pic>
      <p:sp>
        <p:nvSpPr>
          <p:cNvPr id="187" name="Shape 183"/>
          <p:cNvSpPr/>
          <p:nvPr/>
        </p:nvSpPr>
        <p:spPr>
          <a:xfrm>
            <a:off x="20153376" y="9153144"/>
            <a:ext cx="9573768" cy="0"/>
          </a:xfrm>
          <a:prstGeom prst="line">
            <a:avLst/>
          </a:prstGeom>
          <a:noFill/>
          <a:ln w="9525">
            <a:solidFill>
              <a:srgbClr val="CCCCCC"/>
            </a:solidFill>
            <a:prstDash val="solid"/>
          </a:ln>
        </p:spPr>
      </p:sp>
      <p:sp>
        <p:nvSpPr>
          <p:cNvPr id="188" name="Text 184"/>
          <p:cNvSpPr/>
          <p:nvPr/>
        </p:nvSpPr>
        <p:spPr>
          <a:xfrm>
            <a:off x="20153376" y="9299448"/>
            <a:ext cx="9573768" cy="347472"/>
          </a:xfrm>
          <a:prstGeom prst="rect">
            <a:avLst/>
          </a:prstGeom>
          <a:noFill/>
          <a:ln/>
        </p:spPr>
        <p:txBody>
          <a:bodyPr wrap="square" lIns="38100" tIns="38100" rIns="38100" bIns="38100" rtlCol="0" anchor="t"/>
          <a:lstStyle/>
          <a:p>
            <a:pPr algn="l" indent="0" marL="0">
              <a:buNone/>
            </a:pPr>
            <a:r>
              <a:rPr lang="en-US" sz="1300" b="1" dirty="0">
                <a:solidFill>
                  <a:srgbClr val="002D6B"/>
                </a:solidFill>
                <a:latin typeface="Calibri" pitchFamily="34" charset="0"/>
                <a:ea typeface="Calibri" pitchFamily="34" charset="-122"/>
                <a:cs typeface="Calibri" pitchFamily="34" charset="-120"/>
              </a:rPr>
              <a:t>Expected Calibration Error (ECE) — All Four Methods</a:t>
            </a:r>
            <a:endParaRPr lang="en-US" sz="1300" dirty="0"/>
          </a:p>
        </p:txBody>
      </p:sp>
      <p:graphicFrame>
        <p:nvGraphicFramePr>
          <p:cNvPr id="189" name="Chart 1" descr=""/>
          <p:cNvGraphicFramePr/>
          <p:nvPr/>
        </p:nvGraphicFramePr>
        <p:xfrm>
          <a:off x="20244816" y="9683496"/>
          <a:ext cx="9390888" cy="3931920"/>
        </p:xfrm>
        <a:graphic xmlns:a="http://schemas.openxmlformats.org/drawingml/2006/main">
          <a:graphicData uri="http://schemas.openxmlformats.org/drawingml/2006/chart">
            <c:chart xmlns:c="http://schemas.openxmlformats.org/drawingml/2006/chart" r:id="rId3"/>
          </a:graphicData>
        </a:graphic>
      </p:graphicFrame>
      <p:sp>
        <p:nvSpPr>
          <p:cNvPr id="190" name="Shape 185"/>
          <p:cNvSpPr/>
          <p:nvPr/>
        </p:nvSpPr>
        <p:spPr>
          <a:xfrm>
            <a:off x="20153376" y="13752576"/>
            <a:ext cx="9573768" cy="457200"/>
          </a:xfrm>
          <a:prstGeom prst="rect">
            <a:avLst/>
          </a:prstGeom>
          <a:solidFill>
            <a:srgbClr val="002D6B"/>
          </a:solidFill>
          <a:ln/>
        </p:spPr>
      </p:sp>
      <p:sp>
        <p:nvSpPr>
          <p:cNvPr id="191" name="Text 186"/>
          <p:cNvSpPr/>
          <p:nvPr/>
        </p:nvSpPr>
        <p:spPr>
          <a:xfrm>
            <a:off x="20189952" y="13752576"/>
            <a:ext cx="2029968"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Method</a:t>
            </a:r>
            <a:endParaRPr lang="en-US" sz="1050" dirty="0"/>
          </a:p>
        </p:txBody>
      </p:sp>
      <p:sp>
        <p:nvSpPr>
          <p:cNvPr id="192" name="Text 187"/>
          <p:cNvSpPr/>
          <p:nvPr/>
        </p:nvSpPr>
        <p:spPr>
          <a:xfrm>
            <a:off x="22293072" y="13752576"/>
            <a:ext cx="1115568"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Bal.Acc</a:t>
            </a:r>
            <a:endParaRPr lang="en-US" sz="1050" dirty="0"/>
          </a:p>
        </p:txBody>
      </p:sp>
      <p:sp>
        <p:nvSpPr>
          <p:cNvPr id="193" name="Text 188"/>
          <p:cNvSpPr/>
          <p:nvPr/>
        </p:nvSpPr>
        <p:spPr>
          <a:xfrm>
            <a:off x="23481792" y="13752576"/>
            <a:ext cx="932688"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ECE</a:t>
            </a:r>
            <a:endParaRPr lang="en-US" sz="1050" dirty="0"/>
          </a:p>
        </p:txBody>
      </p:sp>
      <p:sp>
        <p:nvSpPr>
          <p:cNvPr id="194" name="Text 189"/>
          <p:cNvSpPr/>
          <p:nvPr/>
        </p:nvSpPr>
        <p:spPr>
          <a:xfrm>
            <a:off x="24487632" y="13752576"/>
            <a:ext cx="932688"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NLL</a:t>
            </a:r>
            <a:endParaRPr lang="en-US" sz="1050" dirty="0"/>
          </a:p>
        </p:txBody>
      </p:sp>
      <p:sp>
        <p:nvSpPr>
          <p:cNvPr id="195" name="Text 190"/>
          <p:cNvSpPr/>
          <p:nvPr/>
        </p:nvSpPr>
        <p:spPr>
          <a:xfrm>
            <a:off x="25493472" y="13752576"/>
            <a:ext cx="932688"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Brier</a:t>
            </a:r>
            <a:endParaRPr lang="en-US" sz="1050" dirty="0"/>
          </a:p>
        </p:txBody>
      </p:sp>
      <p:sp>
        <p:nvSpPr>
          <p:cNvPr id="196" name="Text 191"/>
          <p:cNvSpPr/>
          <p:nvPr/>
        </p:nvSpPr>
        <p:spPr>
          <a:xfrm>
            <a:off x="26499312" y="13752576"/>
            <a:ext cx="1179576"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νₑ ECE ⚠</a:t>
            </a:r>
            <a:endParaRPr lang="en-US" sz="1050" dirty="0"/>
          </a:p>
        </p:txBody>
      </p:sp>
      <p:sp>
        <p:nvSpPr>
          <p:cNvPr id="197" name="Shape 192"/>
          <p:cNvSpPr/>
          <p:nvPr/>
        </p:nvSpPr>
        <p:spPr>
          <a:xfrm>
            <a:off x="20153376" y="14228064"/>
            <a:ext cx="9573768" cy="438912"/>
          </a:xfrm>
          <a:prstGeom prst="rect">
            <a:avLst/>
          </a:prstGeom>
          <a:solidFill>
            <a:srgbClr val="F0F4FA"/>
          </a:solidFill>
          <a:ln/>
        </p:spPr>
      </p:sp>
      <p:sp>
        <p:nvSpPr>
          <p:cNvPr id="198" name="Text 193"/>
          <p:cNvSpPr/>
          <p:nvPr/>
        </p:nvSpPr>
        <p:spPr>
          <a:xfrm>
            <a:off x="20189952" y="14228064"/>
            <a:ext cx="2029968" cy="438912"/>
          </a:xfrm>
          <a:prstGeom prst="rect">
            <a:avLst/>
          </a:prstGeom>
          <a:noFill/>
          <a:ln/>
        </p:spPr>
        <p:txBody>
          <a:bodyPr wrap="square"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Standard</a:t>
            </a:r>
            <a:endParaRPr lang="en-US" sz="1000" dirty="0"/>
          </a:p>
        </p:txBody>
      </p:sp>
      <p:sp>
        <p:nvSpPr>
          <p:cNvPr id="199" name="Text 194"/>
          <p:cNvSpPr/>
          <p:nvPr/>
        </p:nvSpPr>
        <p:spPr>
          <a:xfrm>
            <a:off x="22293072" y="14228064"/>
            <a:ext cx="111556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0.9229</a:t>
            </a:r>
            <a:endParaRPr lang="en-US" sz="1000" dirty="0"/>
          </a:p>
        </p:txBody>
      </p:sp>
      <p:sp>
        <p:nvSpPr>
          <p:cNvPr id="200" name="Text 195"/>
          <p:cNvSpPr/>
          <p:nvPr/>
        </p:nvSpPr>
        <p:spPr>
          <a:xfrm>
            <a:off x="23481792" y="142280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0.0163</a:t>
            </a:r>
            <a:endParaRPr lang="en-US" sz="1000" dirty="0"/>
          </a:p>
        </p:txBody>
      </p:sp>
      <p:sp>
        <p:nvSpPr>
          <p:cNvPr id="201" name="Text 196"/>
          <p:cNvSpPr/>
          <p:nvPr/>
        </p:nvSpPr>
        <p:spPr>
          <a:xfrm>
            <a:off x="24487632" y="142280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0.1696</a:t>
            </a:r>
            <a:endParaRPr lang="en-US" sz="1000" dirty="0"/>
          </a:p>
        </p:txBody>
      </p:sp>
      <p:sp>
        <p:nvSpPr>
          <p:cNvPr id="202" name="Text 197"/>
          <p:cNvSpPr/>
          <p:nvPr/>
        </p:nvSpPr>
        <p:spPr>
          <a:xfrm>
            <a:off x="25493472" y="142280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0.0982</a:t>
            </a:r>
            <a:endParaRPr lang="en-US" sz="1000" dirty="0"/>
          </a:p>
        </p:txBody>
      </p:sp>
      <p:sp>
        <p:nvSpPr>
          <p:cNvPr id="203" name="Text 198"/>
          <p:cNvSpPr/>
          <p:nvPr/>
        </p:nvSpPr>
        <p:spPr>
          <a:xfrm>
            <a:off x="26499312" y="14228064"/>
            <a:ext cx="1179576"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0.0118</a:t>
            </a:r>
            <a:endParaRPr lang="en-US" sz="1000" dirty="0"/>
          </a:p>
        </p:txBody>
      </p:sp>
      <p:sp>
        <p:nvSpPr>
          <p:cNvPr id="204" name="Shape 199"/>
          <p:cNvSpPr/>
          <p:nvPr/>
        </p:nvSpPr>
        <p:spPr>
          <a:xfrm>
            <a:off x="20153376" y="14685264"/>
            <a:ext cx="9573768" cy="438912"/>
          </a:xfrm>
          <a:prstGeom prst="rect">
            <a:avLst/>
          </a:prstGeom>
          <a:solidFill>
            <a:srgbClr val="FFFFFF"/>
          </a:solidFill>
          <a:ln/>
        </p:spPr>
      </p:sp>
      <p:sp>
        <p:nvSpPr>
          <p:cNvPr id="205" name="Text 200"/>
          <p:cNvSpPr/>
          <p:nvPr/>
        </p:nvSpPr>
        <p:spPr>
          <a:xfrm>
            <a:off x="20189952" y="14685264"/>
            <a:ext cx="2029968" cy="438912"/>
          </a:xfrm>
          <a:prstGeom prst="rect">
            <a:avLst/>
          </a:prstGeom>
          <a:noFill/>
          <a:ln/>
        </p:spPr>
        <p:txBody>
          <a:bodyPr wrap="square"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MC Dropout</a:t>
            </a:r>
            <a:endParaRPr lang="en-US" sz="1000" dirty="0"/>
          </a:p>
        </p:txBody>
      </p:sp>
      <p:sp>
        <p:nvSpPr>
          <p:cNvPr id="206" name="Text 201"/>
          <p:cNvSpPr/>
          <p:nvPr/>
        </p:nvSpPr>
        <p:spPr>
          <a:xfrm>
            <a:off x="22293072" y="14685264"/>
            <a:ext cx="111556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0.9215</a:t>
            </a:r>
            <a:endParaRPr lang="en-US" sz="1000" dirty="0"/>
          </a:p>
        </p:txBody>
      </p:sp>
      <p:sp>
        <p:nvSpPr>
          <p:cNvPr id="207" name="Text 202"/>
          <p:cNvSpPr/>
          <p:nvPr/>
        </p:nvSpPr>
        <p:spPr>
          <a:xfrm>
            <a:off x="23481792" y="146852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0.0092</a:t>
            </a:r>
            <a:endParaRPr lang="en-US" sz="1000" dirty="0"/>
          </a:p>
        </p:txBody>
      </p:sp>
      <p:sp>
        <p:nvSpPr>
          <p:cNvPr id="208" name="Text 203"/>
          <p:cNvSpPr/>
          <p:nvPr/>
        </p:nvSpPr>
        <p:spPr>
          <a:xfrm>
            <a:off x="24487632" y="146852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0.1657</a:t>
            </a:r>
            <a:endParaRPr lang="en-US" sz="1000" dirty="0"/>
          </a:p>
        </p:txBody>
      </p:sp>
      <p:sp>
        <p:nvSpPr>
          <p:cNvPr id="209" name="Text 204"/>
          <p:cNvSpPr/>
          <p:nvPr/>
        </p:nvSpPr>
        <p:spPr>
          <a:xfrm>
            <a:off x="25493472" y="146852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0.0972</a:t>
            </a:r>
            <a:endParaRPr lang="en-US" sz="1000" dirty="0"/>
          </a:p>
        </p:txBody>
      </p:sp>
      <p:sp>
        <p:nvSpPr>
          <p:cNvPr id="210" name="Text 205"/>
          <p:cNvSpPr/>
          <p:nvPr/>
        </p:nvSpPr>
        <p:spPr>
          <a:xfrm>
            <a:off x="26499312" y="14685264"/>
            <a:ext cx="1179576"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0.0102</a:t>
            </a:r>
            <a:endParaRPr lang="en-US" sz="1000" dirty="0"/>
          </a:p>
        </p:txBody>
      </p:sp>
      <p:sp>
        <p:nvSpPr>
          <p:cNvPr id="211" name="Shape 206"/>
          <p:cNvSpPr/>
          <p:nvPr/>
        </p:nvSpPr>
        <p:spPr>
          <a:xfrm>
            <a:off x="20153376" y="15142464"/>
            <a:ext cx="9573768" cy="438912"/>
          </a:xfrm>
          <a:prstGeom prst="rect">
            <a:avLst/>
          </a:prstGeom>
          <a:solidFill>
            <a:srgbClr val="FFF5F5"/>
          </a:solidFill>
          <a:ln/>
        </p:spPr>
      </p:sp>
      <p:sp>
        <p:nvSpPr>
          <p:cNvPr id="212" name="Shape 207"/>
          <p:cNvSpPr/>
          <p:nvPr/>
        </p:nvSpPr>
        <p:spPr>
          <a:xfrm>
            <a:off x="26462736" y="15142464"/>
            <a:ext cx="1252728" cy="438912"/>
          </a:xfrm>
          <a:prstGeom prst="rect">
            <a:avLst/>
          </a:prstGeom>
          <a:solidFill>
            <a:srgbClr val="FFE0E0"/>
          </a:solidFill>
          <a:ln/>
        </p:spPr>
      </p:sp>
      <p:sp>
        <p:nvSpPr>
          <p:cNvPr id="213" name="Text 208"/>
          <p:cNvSpPr/>
          <p:nvPr/>
        </p:nvSpPr>
        <p:spPr>
          <a:xfrm>
            <a:off x="20189952" y="15142464"/>
            <a:ext cx="2029968" cy="438912"/>
          </a:xfrm>
          <a:prstGeom prst="rect">
            <a:avLst/>
          </a:prstGeom>
          <a:noFill/>
          <a:ln/>
        </p:spPr>
        <p:txBody>
          <a:bodyPr wrap="square"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Temp. Scaling ★</a:t>
            </a:r>
            <a:endParaRPr lang="en-US" sz="1000" dirty="0"/>
          </a:p>
        </p:txBody>
      </p:sp>
      <p:sp>
        <p:nvSpPr>
          <p:cNvPr id="214" name="Text 209"/>
          <p:cNvSpPr/>
          <p:nvPr/>
        </p:nvSpPr>
        <p:spPr>
          <a:xfrm>
            <a:off x="22293072" y="15142464"/>
            <a:ext cx="1115568" cy="438912"/>
          </a:xfrm>
          <a:prstGeom prst="rect">
            <a:avLst/>
          </a:prstGeom>
          <a:noFill/>
          <a:ln/>
        </p:spPr>
        <p:txBody>
          <a:bodyPr wrap="square"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0.9229</a:t>
            </a:r>
            <a:endParaRPr lang="en-US" sz="1000" dirty="0"/>
          </a:p>
        </p:txBody>
      </p:sp>
      <p:sp>
        <p:nvSpPr>
          <p:cNvPr id="215" name="Text 210"/>
          <p:cNvSpPr/>
          <p:nvPr/>
        </p:nvSpPr>
        <p:spPr>
          <a:xfrm>
            <a:off x="23481792" y="15142464"/>
            <a:ext cx="932688" cy="438912"/>
          </a:xfrm>
          <a:prstGeom prst="rect">
            <a:avLst/>
          </a:prstGeom>
          <a:noFill/>
          <a:ln/>
        </p:spPr>
        <p:txBody>
          <a:bodyPr wrap="square"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0.0021</a:t>
            </a:r>
            <a:endParaRPr lang="en-US" sz="1000" dirty="0"/>
          </a:p>
        </p:txBody>
      </p:sp>
      <p:sp>
        <p:nvSpPr>
          <p:cNvPr id="216" name="Text 211"/>
          <p:cNvSpPr/>
          <p:nvPr/>
        </p:nvSpPr>
        <p:spPr>
          <a:xfrm>
            <a:off x="24487632" y="15142464"/>
            <a:ext cx="932688" cy="438912"/>
          </a:xfrm>
          <a:prstGeom prst="rect">
            <a:avLst/>
          </a:prstGeom>
          <a:noFill/>
          <a:ln/>
        </p:spPr>
        <p:txBody>
          <a:bodyPr wrap="square"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0.1645</a:t>
            </a:r>
            <a:endParaRPr lang="en-US" sz="1000" dirty="0"/>
          </a:p>
        </p:txBody>
      </p:sp>
      <p:sp>
        <p:nvSpPr>
          <p:cNvPr id="217" name="Text 212"/>
          <p:cNvSpPr/>
          <p:nvPr/>
        </p:nvSpPr>
        <p:spPr>
          <a:xfrm>
            <a:off x="25493472" y="15142464"/>
            <a:ext cx="932688" cy="438912"/>
          </a:xfrm>
          <a:prstGeom prst="rect">
            <a:avLst/>
          </a:prstGeom>
          <a:noFill/>
          <a:ln/>
        </p:spPr>
        <p:txBody>
          <a:bodyPr wrap="square"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0.0970</a:t>
            </a:r>
            <a:endParaRPr lang="en-US" sz="1000" dirty="0"/>
          </a:p>
        </p:txBody>
      </p:sp>
      <p:sp>
        <p:nvSpPr>
          <p:cNvPr id="218" name="Text 213"/>
          <p:cNvSpPr/>
          <p:nvPr/>
        </p:nvSpPr>
        <p:spPr>
          <a:xfrm>
            <a:off x="26499312" y="15142464"/>
            <a:ext cx="1179576" cy="438912"/>
          </a:xfrm>
          <a:prstGeom prst="rect">
            <a:avLst/>
          </a:prstGeom>
          <a:noFill/>
          <a:ln/>
        </p:spPr>
        <p:txBody>
          <a:bodyPr wrap="square" rtlCol="0" anchor="ctr"/>
          <a:lstStyle/>
          <a:p>
            <a:pPr algn="ctr" indent="0" marL="0">
              <a:buNone/>
            </a:pPr>
            <a:r>
              <a:rPr lang="en-US" sz="1000" b="1" dirty="0">
                <a:solidFill>
                  <a:srgbClr val="B91C1C"/>
                </a:solidFill>
                <a:latin typeface="Calibri" pitchFamily="34" charset="0"/>
                <a:ea typeface="Calibri" pitchFamily="34" charset="-122"/>
                <a:cs typeface="Calibri" pitchFamily="34" charset="-120"/>
              </a:rPr>
              <a:t>0.0226</a:t>
            </a:r>
            <a:endParaRPr lang="en-US" sz="1000" dirty="0"/>
          </a:p>
        </p:txBody>
      </p:sp>
      <p:sp>
        <p:nvSpPr>
          <p:cNvPr id="219" name="Shape 214"/>
          <p:cNvSpPr/>
          <p:nvPr/>
        </p:nvSpPr>
        <p:spPr>
          <a:xfrm>
            <a:off x="20153376" y="15599664"/>
            <a:ext cx="9573768" cy="438912"/>
          </a:xfrm>
          <a:prstGeom prst="rect">
            <a:avLst/>
          </a:prstGeom>
          <a:solidFill>
            <a:srgbClr val="FFFFFF"/>
          </a:solidFill>
          <a:ln/>
        </p:spPr>
      </p:sp>
      <p:sp>
        <p:nvSpPr>
          <p:cNvPr id="220" name="Shape 215"/>
          <p:cNvSpPr/>
          <p:nvPr/>
        </p:nvSpPr>
        <p:spPr>
          <a:xfrm>
            <a:off x="26462736" y="15599664"/>
            <a:ext cx="1252728" cy="438912"/>
          </a:xfrm>
          <a:prstGeom prst="rect">
            <a:avLst/>
          </a:prstGeom>
          <a:solidFill>
            <a:srgbClr val="FFE0E0"/>
          </a:solidFill>
          <a:ln/>
        </p:spPr>
      </p:sp>
      <p:sp>
        <p:nvSpPr>
          <p:cNvPr id="221" name="Text 216"/>
          <p:cNvSpPr/>
          <p:nvPr/>
        </p:nvSpPr>
        <p:spPr>
          <a:xfrm>
            <a:off x="20189952" y="15599664"/>
            <a:ext cx="2029968" cy="438912"/>
          </a:xfrm>
          <a:prstGeom prst="rect">
            <a:avLst/>
          </a:prstGeom>
          <a:noFill/>
          <a:ln/>
        </p:spPr>
        <p:txBody>
          <a:bodyPr wrap="square"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Isotonic</a:t>
            </a:r>
            <a:endParaRPr lang="en-US" sz="1000" dirty="0"/>
          </a:p>
        </p:txBody>
      </p:sp>
      <p:sp>
        <p:nvSpPr>
          <p:cNvPr id="222" name="Text 217"/>
          <p:cNvSpPr/>
          <p:nvPr/>
        </p:nvSpPr>
        <p:spPr>
          <a:xfrm>
            <a:off x="22293072" y="15599664"/>
            <a:ext cx="111556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0.9209</a:t>
            </a:r>
            <a:endParaRPr lang="en-US" sz="1000" dirty="0"/>
          </a:p>
        </p:txBody>
      </p:sp>
      <p:sp>
        <p:nvSpPr>
          <p:cNvPr id="223" name="Text 218"/>
          <p:cNvSpPr/>
          <p:nvPr/>
        </p:nvSpPr>
        <p:spPr>
          <a:xfrm>
            <a:off x="23481792" y="155996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0.0045</a:t>
            </a:r>
            <a:endParaRPr lang="en-US" sz="1000" dirty="0"/>
          </a:p>
        </p:txBody>
      </p:sp>
      <p:sp>
        <p:nvSpPr>
          <p:cNvPr id="224" name="Text 219"/>
          <p:cNvSpPr/>
          <p:nvPr/>
        </p:nvSpPr>
        <p:spPr>
          <a:xfrm>
            <a:off x="24487632" y="155996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0.1672</a:t>
            </a:r>
            <a:endParaRPr lang="en-US" sz="1000" dirty="0"/>
          </a:p>
        </p:txBody>
      </p:sp>
      <p:sp>
        <p:nvSpPr>
          <p:cNvPr id="225" name="Text 220"/>
          <p:cNvSpPr/>
          <p:nvPr/>
        </p:nvSpPr>
        <p:spPr>
          <a:xfrm>
            <a:off x="25493472" y="15599664"/>
            <a:ext cx="932688" cy="438912"/>
          </a:xfrm>
          <a:prstGeom prst="rect">
            <a:avLst/>
          </a:prstGeom>
          <a:noFill/>
          <a:ln/>
        </p:spPr>
        <p:txBody>
          <a:bodyPr wrap="square"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0.0971</a:t>
            </a:r>
            <a:endParaRPr lang="en-US" sz="1000" dirty="0"/>
          </a:p>
        </p:txBody>
      </p:sp>
      <p:sp>
        <p:nvSpPr>
          <p:cNvPr id="226" name="Text 221"/>
          <p:cNvSpPr/>
          <p:nvPr/>
        </p:nvSpPr>
        <p:spPr>
          <a:xfrm>
            <a:off x="26499312" y="15599664"/>
            <a:ext cx="1179576" cy="438912"/>
          </a:xfrm>
          <a:prstGeom prst="rect">
            <a:avLst/>
          </a:prstGeom>
          <a:noFill/>
          <a:ln/>
        </p:spPr>
        <p:txBody>
          <a:bodyPr wrap="square" rtlCol="0" anchor="ctr"/>
          <a:lstStyle/>
          <a:p>
            <a:pPr algn="ctr" indent="0" marL="0">
              <a:buNone/>
            </a:pPr>
            <a:r>
              <a:rPr lang="en-US" sz="1000" dirty="0">
                <a:solidFill>
                  <a:srgbClr val="B91C1C"/>
                </a:solidFill>
                <a:latin typeface="Calibri" pitchFamily="34" charset="0"/>
                <a:ea typeface="Calibri" pitchFamily="34" charset="-122"/>
                <a:cs typeface="Calibri" pitchFamily="34" charset="-120"/>
              </a:rPr>
              <a:t>0.0311</a:t>
            </a:r>
            <a:endParaRPr lang="en-US" sz="1000" dirty="0"/>
          </a:p>
        </p:txBody>
      </p:sp>
      <p:sp>
        <p:nvSpPr>
          <p:cNvPr id="227" name="Shape 222"/>
          <p:cNvSpPr/>
          <p:nvPr/>
        </p:nvSpPr>
        <p:spPr>
          <a:xfrm>
            <a:off x="20153376" y="16056864"/>
            <a:ext cx="9573768" cy="365760"/>
          </a:xfrm>
          <a:prstGeom prst="rect">
            <a:avLst/>
          </a:prstGeom>
          <a:solidFill>
            <a:srgbClr val="FFF0F0"/>
          </a:solidFill>
          <a:ln/>
        </p:spPr>
      </p:sp>
      <p:sp>
        <p:nvSpPr>
          <p:cNvPr id="228" name="Text 223"/>
          <p:cNvSpPr/>
          <p:nvPr/>
        </p:nvSpPr>
        <p:spPr>
          <a:xfrm>
            <a:off x="20244816" y="16093440"/>
            <a:ext cx="9390888" cy="292608"/>
          </a:xfrm>
          <a:prstGeom prst="rect">
            <a:avLst/>
          </a:prstGeom>
          <a:noFill/>
          <a:ln/>
        </p:spPr>
        <p:txBody>
          <a:bodyPr wrap="square" lIns="38100" tIns="38100" rIns="38100" bIns="38100" rtlCol="0" anchor="t"/>
          <a:lstStyle/>
          <a:p>
            <a:pPr algn="l" indent="0" marL="0">
              <a:buNone/>
            </a:pPr>
            <a:r>
              <a:rPr lang="en-US" sz="1050" dirty="0">
                <a:solidFill>
                  <a:srgbClr val="B91C1C"/>
                </a:solidFill>
                <a:latin typeface="Calibri" pitchFamily="34" charset="0"/>
                <a:ea typeface="Calibri" pitchFamily="34" charset="-122"/>
                <a:cs typeface="Calibri" pitchFamily="34" charset="-120"/>
              </a:rPr>
              <a:t>⚠ νₑ ECE: TS achieves best overall ECE (0.0021) but worsens signal ECE by 92% (0.0118→0.0226). Red cells show the class-fairness trade-off.</a:t>
            </a:r>
            <a:endParaRPr lang="en-US" sz="1050" dirty="0"/>
          </a:p>
        </p:txBody>
      </p:sp>
      <p:sp>
        <p:nvSpPr>
          <p:cNvPr id="229" name="Shape 224"/>
          <p:cNvSpPr/>
          <p:nvPr/>
        </p:nvSpPr>
        <p:spPr>
          <a:xfrm>
            <a:off x="20153376" y="16514064"/>
            <a:ext cx="9573768" cy="0"/>
          </a:xfrm>
          <a:prstGeom prst="line">
            <a:avLst/>
          </a:prstGeom>
          <a:noFill/>
          <a:ln w="9525">
            <a:solidFill>
              <a:srgbClr val="CCCCCC"/>
            </a:solidFill>
            <a:prstDash val="solid"/>
          </a:ln>
        </p:spPr>
      </p:sp>
      <p:sp>
        <p:nvSpPr>
          <p:cNvPr id="230" name="Shape 225"/>
          <p:cNvSpPr/>
          <p:nvPr/>
        </p:nvSpPr>
        <p:spPr>
          <a:xfrm>
            <a:off x="20153376" y="16660368"/>
            <a:ext cx="9573768" cy="493776"/>
          </a:xfrm>
          <a:prstGeom prst="rect">
            <a:avLst/>
          </a:prstGeom>
          <a:solidFill>
            <a:srgbClr val="B91C1C"/>
          </a:solidFill>
          <a:ln/>
        </p:spPr>
      </p:sp>
      <p:sp>
        <p:nvSpPr>
          <p:cNvPr id="231" name="Text 226"/>
          <p:cNvSpPr/>
          <p:nvPr/>
        </p:nvSpPr>
        <p:spPr>
          <a:xfrm>
            <a:off x="20290536" y="16660368"/>
            <a:ext cx="9299448" cy="493776"/>
          </a:xfrm>
          <a:prstGeom prst="rect">
            <a:avLst/>
          </a:prstGeom>
          <a:noFill/>
          <a:ln/>
        </p:spPr>
        <p:txBody>
          <a:bodyPr wrap="square"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  KEY FINDING: Per-Class Calibration — νₑ Signal vs νμ Background</a:t>
            </a:r>
            <a:endParaRPr lang="en-US" sz="1350" dirty="0"/>
          </a:p>
        </p:txBody>
      </p:sp>
      <p:graphicFrame>
        <p:nvGraphicFramePr>
          <p:cNvPr id="232" name="Chart 2" descr=""/>
          <p:cNvGraphicFramePr/>
          <p:nvPr/>
        </p:nvGraphicFramePr>
        <p:xfrm>
          <a:off x="20199096" y="17190720"/>
          <a:ext cx="9482328" cy="4114800"/>
        </p:xfrm>
        <a:graphic xmlns:a="http://schemas.openxmlformats.org/drawingml/2006/main">
          <a:graphicData uri="http://schemas.openxmlformats.org/drawingml/2006/chart">
            <c:chart xmlns:c="http://schemas.openxmlformats.org/drawingml/2006/chart" r:id="rId4"/>
          </a:graphicData>
        </a:graphic>
      </p:graphicFrame>
      <p:sp>
        <p:nvSpPr>
          <p:cNvPr id="233" name="Shape 227"/>
          <p:cNvSpPr/>
          <p:nvPr/>
        </p:nvSpPr>
        <p:spPr>
          <a:xfrm>
            <a:off x="20153376" y="21442680"/>
            <a:ext cx="9573768" cy="658368"/>
          </a:xfrm>
          <a:prstGeom prst="rect">
            <a:avLst/>
          </a:prstGeom>
          <a:solidFill>
            <a:srgbClr val="FFF0F0"/>
          </a:solidFill>
          <a:ln w="6350">
            <a:solidFill>
              <a:srgbClr val="B91C1C"/>
            </a:solidFill>
            <a:prstDash val="solid"/>
          </a:ln>
        </p:spPr>
      </p:sp>
      <p:sp>
        <p:nvSpPr>
          <p:cNvPr id="234" name="Text 228"/>
          <p:cNvSpPr/>
          <p:nvPr/>
        </p:nvSpPr>
        <p:spPr>
          <a:xfrm>
            <a:off x="20263104" y="21497544"/>
            <a:ext cx="9354312" cy="548640"/>
          </a:xfrm>
          <a:prstGeom prst="rect">
            <a:avLst/>
          </a:prstGeom>
          <a:noFill/>
          <a:ln/>
        </p:spPr>
        <p:txBody>
          <a:bodyPr wrap="square"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 xml:space="preserve">⚠  Trade-off: </a:t>
            </a:r>
            <a:pPr indent="0" marL="0">
              <a:buNone/>
            </a:pPr>
            <a:r>
              <a:rPr lang="en-US" sz="1200" dirty="0">
                <a:solidFill>
                  <a:srgbClr val="111111"/>
                </a:solidFill>
                <a:latin typeface="Calibri" pitchFamily="34" charset="0"/>
                <a:ea typeface="Calibri" pitchFamily="34" charset="-122"/>
                <a:cs typeface="Calibri" pitchFamily="34" charset="-120"/>
              </a:rPr>
              <a:t>TS achieves best overall ECE (0.0021) but worsens νₑ signal calibration by 92% (0.0118→0.0226). It optimises NLL dominated by the majority class. MC Dropout improves both classes and captures epistemic uncertainty for OOD detection.</a:t>
            </a:r>
            <a:endParaRPr lang="en-US" sz="1200" dirty="0"/>
          </a:p>
        </p:txBody>
      </p:sp>
      <p:sp>
        <p:nvSpPr>
          <p:cNvPr id="235" name="Shape 229"/>
          <p:cNvSpPr/>
          <p:nvPr/>
        </p:nvSpPr>
        <p:spPr>
          <a:xfrm>
            <a:off x="20153376" y="22229064"/>
            <a:ext cx="9573768" cy="0"/>
          </a:xfrm>
          <a:prstGeom prst="line">
            <a:avLst/>
          </a:prstGeom>
          <a:noFill/>
          <a:ln w="9525">
            <a:solidFill>
              <a:srgbClr val="CCCCCC"/>
            </a:solidFill>
            <a:prstDash val="solid"/>
          </a:ln>
        </p:spPr>
      </p:sp>
      <p:sp>
        <p:nvSpPr>
          <p:cNvPr id="236" name="Shape 230"/>
          <p:cNvSpPr/>
          <p:nvPr/>
        </p:nvSpPr>
        <p:spPr>
          <a:xfrm>
            <a:off x="20153376" y="22357080"/>
            <a:ext cx="9573768" cy="493776"/>
          </a:xfrm>
          <a:prstGeom prst="rect">
            <a:avLst/>
          </a:prstGeom>
          <a:solidFill>
            <a:srgbClr val="004B9B"/>
          </a:solidFill>
          <a:ln/>
        </p:spPr>
      </p:sp>
      <p:sp>
        <p:nvSpPr>
          <p:cNvPr id="237" name="Text 231"/>
          <p:cNvSpPr/>
          <p:nvPr/>
        </p:nvSpPr>
        <p:spPr>
          <a:xfrm>
            <a:off x="20290536" y="22402800"/>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④ Conclusions &amp; Limitations</a:t>
            </a:r>
            <a:endParaRPr lang="en-US" sz="1400" dirty="0"/>
          </a:p>
        </p:txBody>
      </p:sp>
      <p:sp>
        <p:nvSpPr>
          <p:cNvPr id="238" name="Text 232"/>
          <p:cNvSpPr/>
          <p:nvPr/>
        </p:nvSpPr>
        <p:spPr>
          <a:xfrm>
            <a:off x="20153376" y="22924008"/>
            <a:ext cx="9573768" cy="585216"/>
          </a:xfrm>
          <a:prstGeom prst="rect">
            <a:avLst/>
          </a:prstGeom>
          <a:noFill/>
          <a:ln/>
        </p:spPr>
        <p:txBody>
          <a:bodyPr wrap="square" lIns="25400" tIns="25400" rIns="25400" bIns="25400" rtlCol="0" anchor="ctr"/>
          <a:lstStyle/>
          <a:p>
            <a:pPr indent="0" marL="0">
              <a:buNone/>
            </a:pPr>
            <a:r>
              <a:rPr lang="en-US" sz="1250" b="1" dirty="0">
                <a:solidFill>
                  <a:srgbClr val="166534"/>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Temperature Scaling (T=1.282) achieves best overall ECE (0.0021, ↓87%) — zero retraining needed.</a:t>
            </a:r>
            <a:endParaRPr lang="en-US" sz="1250" dirty="0"/>
          </a:p>
        </p:txBody>
      </p:sp>
      <p:sp>
        <p:nvSpPr>
          <p:cNvPr id="239" name="Text 233"/>
          <p:cNvSpPr/>
          <p:nvPr/>
        </p:nvSpPr>
        <p:spPr>
          <a:xfrm>
            <a:off x="20153376" y="23527512"/>
            <a:ext cx="9573768" cy="585216"/>
          </a:xfrm>
          <a:prstGeom prst="rect">
            <a:avLst/>
          </a:prstGeom>
          <a:noFill/>
          <a:ln/>
        </p:spPr>
        <p:txBody>
          <a:bodyPr wrap="square" lIns="25400" tIns="25400" rIns="25400" bIns="25400" rtlCol="0" anchor="ctr"/>
          <a:lstStyle/>
          <a:p>
            <a:pPr indent="0" marL="0">
              <a:buNone/>
            </a:pPr>
            <a:r>
              <a:rPr lang="en-US" sz="1250" b="1" dirty="0">
                <a:solidFill>
                  <a:srgbClr val="B91C1C"/>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TS worsens νₑ signal calibration by 92% — a class-fairness failure hidden by aggregate metrics.</a:t>
            </a:r>
            <a:endParaRPr lang="en-US" sz="1250" dirty="0"/>
          </a:p>
        </p:txBody>
      </p:sp>
      <p:sp>
        <p:nvSpPr>
          <p:cNvPr id="240" name="Text 234"/>
          <p:cNvSpPr/>
          <p:nvPr/>
        </p:nvSpPr>
        <p:spPr>
          <a:xfrm>
            <a:off x="20153376" y="24131016"/>
            <a:ext cx="9573768" cy="585216"/>
          </a:xfrm>
          <a:prstGeom prst="rect">
            <a:avLst/>
          </a:prstGeom>
          <a:noFill/>
          <a:ln/>
        </p:spPr>
        <p:txBody>
          <a:bodyPr wrap="square" lIns="25400" tIns="25400" rIns="25400" bIns="25400" rtlCol="0" anchor="ctr"/>
          <a:lstStyle/>
          <a:p>
            <a:pPr indent="0" marL="0">
              <a:buNone/>
            </a:pPr>
            <a:r>
              <a:rPr lang="en-US" sz="1250" b="1" dirty="0">
                <a:solidFill>
                  <a:srgbClr val="007A78"/>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MC Dropout quantifies epistemic uncertainty and enables OOD detection via predictive entropy.</a:t>
            </a:r>
            <a:endParaRPr lang="en-US" sz="1250" dirty="0"/>
          </a:p>
        </p:txBody>
      </p:sp>
      <p:sp>
        <p:nvSpPr>
          <p:cNvPr id="241" name="Text 235"/>
          <p:cNvSpPr/>
          <p:nvPr/>
        </p:nvSpPr>
        <p:spPr>
          <a:xfrm>
            <a:off x="20153376" y="24734520"/>
            <a:ext cx="9573768" cy="585216"/>
          </a:xfrm>
          <a:prstGeom prst="rect">
            <a:avLst/>
          </a:prstGeom>
          <a:noFill/>
          <a:ln/>
        </p:spPr>
        <p:txBody>
          <a:bodyPr wrap="square" lIns="25400" tIns="25400" rIns="25400" bIns="25400" rtlCol="0" anchor="ctr"/>
          <a:lstStyle/>
          <a:p>
            <a:pPr indent="0" marL="0">
              <a:buNone/>
            </a:pPr>
            <a:r>
              <a:rPr lang="en-US" sz="1250" b="1" dirty="0">
                <a:solidFill>
                  <a:srgbClr val="002D6B"/>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Recommendation: TS for overall calibration · MC Dropout for signal-critical or OOD-aware decisions.</a:t>
            </a:r>
            <a:endParaRPr lang="en-US" sz="1250" dirty="0"/>
          </a:p>
        </p:txBody>
      </p:sp>
      <p:sp>
        <p:nvSpPr>
          <p:cNvPr id="242" name="Text 236"/>
          <p:cNvSpPr/>
          <p:nvPr/>
        </p:nvSpPr>
        <p:spPr>
          <a:xfrm>
            <a:off x="20153376" y="25338024"/>
            <a:ext cx="9573768" cy="585216"/>
          </a:xfrm>
          <a:prstGeom prst="rect">
            <a:avLst/>
          </a:prstGeom>
          <a:noFill/>
          <a:ln/>
        </p:spPr>
        <p:txBody>
          <a:bodyPr wrap="square" lIns="25400" tIns="25400" rIns="25400" bIns="25400" rtlCol="0" anchor="ctr"/>
          <a:lstStyle/>
          <a:p>
            <a:pPr indent="0" marL="0">
              <a:buNone/>
            </a:pPr>
            <a:r>
              <a:rPr lang="en-US" sz="1250" b="1" dirty="0">
                <a:solidFill>
                  <a:srgbClr val="555555"/>
                </a:solidFill>
                <a:latin typeface="Calibri" pitchFamily="34" charset="0"/>
                <a:ea typeface="Calibri" pitchFamily="34" charset="-122"/>
                <a:cs typeface="Calibri" pitchFamily="34" charset="-120"/>
              </a:rPr>
              <a:t xml:space="preserve">◌  </a:t>
            </a:r>
            <a:pPr indent="0" marL="0">
              <a:buNone/>
            </a:pPr>
            <a:r>
              <a:rPr lang="en-US" sz="1250" dirty="0">
                <a:solidFill>
                  <a:srgbClr val="111111"/>
                </a:solidFill>
                <a:latin typeface="Calibri" pitchFamily="34" charset="0"/>
                <a:ea typeface="Calibri" pitchFamily="34" charset="-122"/>
                <a:cs typeface="Calibri" pitchFamily="34" charset="-120"/>
              </a:rPr>
              <a:t>Limitation: single dataset/architecture, synthetic OOD. Future: class-conditional TS, multi-seed, physical OOD.</a:t>
            </a:r>
            <a:endParaRPr lang="en-US" sz="1250" dirty="0"/>
          </a:p>
        </p:txBody>
      </p:sp>
      <p:sp>
        <p:nvSpPr>
          <p:cNvPr id="243" name="Shape 237"/>
          <p:cNvSpPr/>
          <p:nvPr/>
        </p:nvSpPr>
        <p:spPr>
          <a:xfrm>
            <a:off x="20153376" y="26014680"/>
            <a:ext cx="9573768" cy="0"/>
          </a:xfrm>
          <a:prstGeom prst="line">
            <a:avLst/>
          </a:prstGeom>
          <a:noFill/>
          <a:ln w="9525">
            <a:solidFill>
              <a:srgbClr val="CCCCCC"/>
            </a:solidFill>
            <a:prstDash val="solid"/>
          </a:ln>
        </p:spPr>
      </p:sp>
      <p:sp>
        <p:nvSpPr>
          <p:cNvPr id="244" name="Shape 238"/>
          <p:cNvSpPr/>
          <p:nvPr/>
        </p:nvSpPr>
        <p:spPr>
          <a:xfrm>
            <a:off x="20153376" y="26142696"/>
            <a:ext cx="9573768" cy="493776"/>
          </a:xfrm>
          <a:prstGeom prst="rect">
            <a:avLst/>
          </a:prstGeom>
          <a:solidFill>
            <a:srgbClr val="004B9B"/>
          </a:solidFill>
          <a:ln/>
        </p:spPr>
      </p:sp>
      <p:sp>
        <p:nvSpPr>
          <p:cNvPr id="245" name="Text 239"/>
          <p:cNvSpPr/>
          <p:nvPr/>
        </p:nvSpPr>
        <p:spPr>
          <a:xfrm>
            <a:off x="20290536" y="26188416"/>
            <a:ext cx="9299448"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⑤ References</a:t>
            </a:r>
            <a:endParaRPr lang="en-US" sz="1400" dirty="0"/>
          </a:p>
        </p:txBody>
      </p:sp>
      <p:sp>
        <p:nvSpPr>
          <p:cNvPr id="246" name="Text 240"/>
          <p:cNvSpPr/>
          <p:nvPr/>
        </p:nvSpPr>
        <p:spPr>
          <a:xfrm>
            <a:off x="20153376" y="26654760"/>
            <a:ext cx="9573768" cy="420624"/>
          </a:xfrm>
          <a:prstGeom prst="rect">
            <a:avLst/>
          </a:prstGeom>
          <a:noFill/>
          <a:ln/>
        </p:spPr>
        <p:txBody>
          <a:bodyPr wrap="square" lIns="38100" tIns="38100" rIns="38100" bIns="3810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[1] Gal &amp; Ghahramani 2016 · Dropout as Bayesian Approx. · arXiv:1506.02142</a:t>
            </a:r>
            <a:endParaRPr lang="en-US" sz="1100" dirty="0"/>
          </a:p>
        </p:txBody>
      </p:sp>
      <p:sp>
        <p:nvSpPr>
          <p:cNvPr id="247" name="Text 241"/>
          <p:cNvSpPr/>
          <p:nvPr/>
        </p:nvSpPr>
        <p:spPr>
          <a:xfrm>
            <a:off x="20153376" y="27066240"/>
            <a:ext cx="9573768" cy="420624"/>
          </a:xfrm>
          <a:prstGeom prst="rect">
            <a:avLst/>
          </a:prstGeom>
          <a:noFill/>
          <a:ln/>
        </p:spPr>
        <p:txBody>
          <a:bodyPr wrap="square" lIns="38100" tIns="38100" rIns="38100" bIns="3810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[2] Gorishniy et al. 2021 · Revisiting DL for Tabular Data · arXiv:2106.05346</a:t>
            </a:r>
            <a:endParaRPr lang="en-US" sz="1100" dirty="0"/>
          </a:p>
        </p:txBody>
      </p:sp>
      <p:sp>
        <p:nvSpPr>
          <p:cNvPr id="248" name="Text 242"/>
          <p:cNvSpPr/>
          <p:nvPr/>
        </p:nvSpPr>
        <p:spPr>
          <a:xfrm>
            <a:off x="20153376" y="27477720"/>
            <a:ext cx="9573768" cy="420624"/>
          </a:xfrm>
          <a:prstGeom prst="rect">
            <a:avLst/>
          </a:prstGeom>
          <a:noFill/>
          <a:ln/>
        </p:spPr>
        <p:txBody>
          <a:bodyPr wrap="square" lIns="38100" tIns="38100" rIns="38100" bIns="3810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[3] Guo et al. 2017 · On Calibration of Modern NNs · arXiv:1706.04599</a:t>
            </a:r>
            <a:endParaRPr lang="en-US" sz="1100" dirty="0"/>
          </a:p>
        </p:txBody>
      </p:sp>
      <p:sp>
        <p:nvSpPr>
          <p:cNvPr id="249" name="Text 243"/>
          <p:cNvSpPr/>
          <p:nvPr/>
        </p:nvSpPr>
        <p:spPr>
          <a:xfrm>
            <a:off x="20153376" y="27889200"/>
            <a:ext cx="9573768" cy="420624"/>
          </a:xfrm>
          <a:prstGeom prst="rect">
            <a:avLst/>
          </a:prstGeom>
          <a:noFill/>
          <a:ln/>
        </p:spPr>
        <p:txBody>
          <a:bodyPr wrap="square" lIns="38100" tIns="38100" rIns="38100" bIns="3810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[4] Vaswani et al. 2017 · Attention Is All You Need · arXiv:1706.03762</a:t>
            </a:r>
            <a:endParaRPr lang="en-US" sz="1100" dirty="0"/>
          </a:p>
        </p:txBody>
      </p:sp>
      <p:sp>
        <p:nvSpPr>
          <p:cNvPr id="250" name="Text 244"/>
          <p:cNvSpPr/>
          <p:nvPr/>
        </p:nvSpPr>
        <p:spPr>
          <a:xfrm>
            <a:off x="20153376" y="28300680"/>
            <a:ext cx="9573768" cy="420624"/>
          </a:xfrm>
          <a:prstGeom prst="rect">
            <a:avLst/>
          </a:prstGeom>
          <a:noFill/>
          <a:ln/>
        </p:spPr>
        <p:txBody>
          <a:bodyPr wrap="square" lIns="38100" tIns="38100" rIns="38100" bIns="3810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[5] Zadrozny &amp; Elkan 2002 · Calibrating Classifier Scores · KDD</a:t>
            </a:r>
            <a:endParaRPr lang="en-US" sz="1100" dirty="0"/>
          </a:p>
        </p:txBody>
      </p:sp>
      <p:sp>
        <p:nvSpPr>
          <p:cNvPr id="251" name="Shape 245"/>
          <p:cNvSpPr/>
          <p:nvPr/>
        </p:nvSpPr>
        <p:spPr>
          <a:xfrm>
            <a:off x="0" y="44659296"/>
            <a:ext cx="30275784" cy="109728"/>
          </a:xfrm>
          <a:prstGeom prst="rect">
            <a:avLst/>
          </a:prstGeom>
          <a:solidFill>
            <a:srgbClr val="004B9B"/>
          </a:solidFill>
          <a:ln/>
        </p:spPr>
      </p:sp>
      <p:pic>
        <p:nvPicPr>
          <p:cNvPr id="252" name="Picture 251" descr="abstract_mini.png"/>
          <p:cNvPicPr>
            <a:picLocks noChangeAspect="1"/>
          </p:cNvPicPr>
          <p:nvPr/>
        </p:nvPicPr>
        <p:blipFill>
          <a:blip r:embed="rId10"/>
          <a:stretch>
            <a:fillRect/>
          </a:stretch>
        </p:blipFill>
        <p:spPr>
          <a:xfrm>
            <a:off x="438912" y="10012680"/>
            <a:ext cx="8750808" cy="25669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2026-07-05T16:10:38Z</dcterms:created>
  <dcterms:modified xsi:type="dcterms:W3CDTF">2026-07-05T16:10:38Z</dcterms:modified>
</cp:coreProperties>
</file>